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de19526754d84" /><Relationship Type="http://schemas.openxmlformats.org/officeDocument/2006/relationships/extended-properties" Target="/docProps/app.xml" Id="Rf96be9dc94a04054" /><Relationship Type="http://schemas.openxmlformats.org/officeDocument/2006/relationships/officeDocument" Target="/ppt/presentation.xml" Id="R7dd6553ce85545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c7c63540434654"/>
  </p:sldMasterIdLst>
  <p:notesMasterIdLst>
    <p:notesMasterId xmlns:r="http://schemas.openxmlformats.org/officeDocument/2006/relationships" r:id="R3a59fa6b87814bbf"/>
  </p:notesMasterIdLst>
  <p:sldIdLst>
    <p:sldId xmlns:r="http://schemas.openxmlformats.org/officeDocument/2006/relationships" id="256" r:id="R743388287a5f4031"/>
    <p:sldId xmlns:r="http://schemas.openxmlformats.org/officeDocument/2006/relationships" id="257" r:id="R2627e397ef114578"/>
    <p:sldId xmlns:r="http://schemas.openxmlformats.org/officeDocument/2006/relationships" id="258" r:id="Rba82c7c1b45443a1"/>
    <p:sldId xmlns:r="http://schemas.openxmlformats.org/officeDocument/2006/relationships" id="259" r:id="Rfec7abf85898496d"/>
    <p:sldId xmlns:r="http://schemas.openxmlformats.org/officeDocument/2006/relationships" id="260" r:id="R5c5db934e37148f4"/>
    <p:sldId xmlns:r="http://schemas.openxmlformats.org/officeDocument/2006/relationships" id="261" r:id="R698499a6f2d5470d"/>
    <p:sldId xmlns:r="http://schemas.openxmlformats.org/officeDocument/2006/relationships" id="262" r:id="R8df458409e004bf5"/>
    <p:sldId xmlns:r="http://schemas.openxmlformats.org/officeDocument/2006/relationships" id="263" r:id="Rc0b4791dd93049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8255df1e14e90" /><Relationship Type="http://schemas.openxmlformats.org/officeDocument/2006/relationships/slideMaster" Target="/ppt/slideMasters/slideMaster1.xml" Id="Ra3c7c63540434654" /><Relationship Type="http://schemas.openxmlformats.org/officeDocument/2006/relationships/notesMaster" Target="/ppt/notesMasters/notesMaster1.xml" Id="R3a59fa6b87814bbf" /><Relationship Type="http://schemas.openxmlformats.org/officeDocument/2006/relationships/presProps" Target="/ppt/presProps.xml" Id="R6973779caf9e4a4b" /><Relationship Type="http://schemas.openxmlformats.org/officeDocument/2006/relationships/tableStyles" Target="/ppt/tableStyles.xml" Id="R9e39ea7ac7a04b64" /><Relationship Type="http://schemas.openxmlformats.org/officeDocument/2006/relationships/slide" Target="/ppt/slides/slide1.xml" Id="R743388287a5f4031" /><Relationship Type="http://schemas.openxmlformats.org/officeDocument/2006/relationships/slide" Target="/ppt/slides/slide2.xml" Id="R2627e397ef114578" /><Relationship Type="http://schemas.openxmlformats.org/officeDocument/2006/relationships/slide" Target="/ppt/slides/slide3.xml" Id="Rba82c7c1b45443a1" /><Relationship Type="http://schemas.openxmlformats.org/officeDocument/2006/relationships/slide" Target="/ppt/slides/slide4.xml" Id="Rfec7abf85898496d" /><Relationship Type="http://schemas.openxmlformats.org/officeDocument/2006/relationships/slide" Target="/ppt/slides/slide5.xml" Id="R5c5db934e37148f4" /><Relationship Type="http://schemas.openxmlformats.org/officeDocument/2006/relationships/slide" Target="/ppt/slides/slide6.xml" Id="R698499a6f2d5470d" /><Relationship Type="http://schemas.openxmlformats.org/officeDocument/2006/relationships/slide" Target="/ppt/slides/slide7.xml" Id="R8df458409e004bf5" /><Relationship Type="http://schemas.openxmlformats.org/officeDocument/2006/relationships/slide" Target="/ppt/slides/slide8.xml" Id="Rc0b4791dd93049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9da1d93bb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2acdbe044a4e57" /><Relationship Type="http://schemas.openxmlformats.org/officeDocument/2006/relationships/notesMaster" Target="/ppt/notesMasters/notesMaster1.xml" Id="Rdb940d1419d3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b66f4739834056" /><Relationship Type="http://schemas.openxmlformats.org/officeDocument/2006/relationships/notesMaster" Target="/ppt/notesMasters/notesMaster1.xml" Id="Rd63e684ba7cf4e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ed6ba864a5429c" /><Relationship Type="http://schemas.openxmlformats.org/officeDocument/2006/relationships/notesMaster" Target="/ppt/notesMasters/notesMaster1.xml" Id="R552951162cf34d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dd71dc861a4d19" /><Relationship Type="http://schemas.openxmlformats.org/officeDocument/2006/relationships/notesMaster" Target="/ppt/notesMasters/notesMaster1.xml" Id="R4c79a5a0705249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dab7c11c9a4dac" /><Relationship Type="http://schemas.openxmlformats.org/officeDocument/2006/relationships/notesMaster" Target="/ppt/notesMasters/notesMaster1.xml" Id="R7acb9caf444b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53cb263e914674" /><Relationship Type="http://schemas.openxmlformats.org/officeDocument/2006/relationships/notesMaster" Target="/ppt/notesMasters/notesMaster1.xml" Id="R9a42d35a710346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833c02f6348e4" /><Relationship Type="http://schemas.openxmlformats.org/officeDocument/2006/relationships/notesMaster" Target="/ppt/notesMasters/notesMaster1.xml" Id="R20e073a8347b49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a6db9359e84b67" /><Relationship Type="http://schemas.openxmlformats.org/officeDocument/2006/relationships/notesMaster" Target="/ppt/notesMasters/notesMaster1.xml" Id="R56d4d219dfba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Executive Summary and overall route strategy.</a:t>
            </a:r>
          </a:p>
          <a:p xmlns:a="http://schemas.openxmlformats.org/drawingml/2006/main">
            <a:r>
              <a:t>Visual: hero-dapeng-bay.png, generated with the built-in OpenAI image generation tool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Executive Summary, 規劃假設與路線策略, and 東港／滿州景點 tables.</a:t>
            </a:r>
          </a:p>
          <a:p xmlns:a="http://schemas.openxmlformats.org/drawingml/2006/main">
            <a:r>
              <a:t>Visual: dapeng-wetland.png, generated with the built-in OpenAI image generation tool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景點與餐飲／東港推薦景點, 在地餐飲, and 兩日詳細時刻表與費用／第一天.</a:t>
            </a:r>
          </a:p>
          <a:p xmlns:a="http://schemas.openxmlformats.org/drawingml/2006/main">
            <a:r>
              <a:t>Visuals: donggang-temple.png and donggang-seafood-market.png, generated with the built-in OpenAI image generation tool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兩日詳細時刻表與費用／第二天, 景點與餐飲／滿州與墾丁東岸推薦景點.</a:t>
            </a:r>
          </a:p>
          <a:p xmlns:a="http://schemas.openxmlformats.org/drawingml/2006/main">
            <a:r>
              <a:t>Visuals: east-coast-longpan.png and jialeshui-rocks.png, generated with the built-in OpenAI image generation tool for this deck.</a:t>
            </a:r>
          </a:p>
          <a:p xmlns:a="http://schemas.openxmlformats.org/drawingml/2006/main">
            <a:r>
              <a:t>Caveat from source brief: Jialeshui operating hours and ticket price differ across official pages; reconfirm before departure.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兩日詳細時刻表與費用／Day 1 預算、Day 2 預算、主方案總計, and 節省型與舒適型預算.</a:t>
            </a:r>
          </a:p>
          <a:p xmlns:a="http://schemas.openxmlformats.org/drawingml/2006/main">
            <a:r>
              <a:t>Upgrade claim: source brief — 大鵬灣卡丁車 two-person addition of NT$1,000 brings the plan to about NT$9,680.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交通方案與時刻比較／各段交通比較, 實用班次, and the transport conclusion.</a:t>
            </a:r>
          </a:p>
          <a:p xmlns:a="http://schemas.openxmlformats.org/drawingml/2006/main">
            <a:r>
              <a:t>Route times and cost ranges are planning values from the source brief and should be checked against the actual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替代風格、升級與執行提醒／悠閒美食版、自然健行版、攝影景點密集版、可選升級.</a:t>
            </a:r>
          </a:p>
          <a:p xmlns:a="http://schemas.openxmlformats.org/drawingml/2006/main">
            <a:r>
              <a:t>Upgrade claim: source brief — Dapeng Bay karting at NT$500 per person for the general single-seat plan; two people bring the main plan to about NT$9,680.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content: 高屏旅遊規劃.md — 替代風格、升級與執行提醒／執行提醒, plus the main route and budget conclusion.</a:t>
            </a:r>
          </a:p>
          <a:p xmlns:a="http://schemas.openxmlformats.org/drawingml/2006/main">
            <a:r>
              <a:t>Visual: hero-dapeng-bay.png reused as a background image, generated with the built-in OpenAI image generation tool for this deck.</a:t>
            </a:r>
          </a:p>
          <a:p xmlns:a="http://schemas.openxmlformats.org/drawingml/2006/main">
            <a:r>
              <a:t>Caveat from source brief: confirm date, accommodation, rental-car total, Jialeshui price/operating hours, and transit or traffic conditions before booking.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b2ebc4c6a4a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fce15ba684e0f" /><Relationship Type="http://schemas.openxmlformats.org/officeDocument/2006/relationships/slideLayout" Target="/ppt/slideLayouts/slideLayout1.xml" Id="R4d07693eae3f49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7693eae3f49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bc4be35fe4cd6" /><Relationship Type="http://schemas.openxmlformats.org/officeDocument/2006/relationships/image" Target="/ppt/media/image.png" Id="Re8fefb1e6da14d82" /><Relationship Type="http://schemas.openxmlformats.org/officeDocument/2006/relationships/notesSlide" Target="/ppt/notesSlides/notesSlide1.xml" Id="R69cd9d455bf9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cff35f16742d9" /><Relationship Type="http://schemas.openxmlformats.org/officeDocument/2006/relationships/image" Target="/ppt/media/image2.png" Id="Rb88bf890240d4fd1" /><Relationship Type="http://schemas.openxmlformats.org/officeDocument/2006/relationships/notesSlide" Target="/ppt/notesSlides/notesSlide2.xml" Id="R31f6a77f338b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7e9d730604bb6" /><Relationship Type="http://schemas.openxmlformats.org/officeDocument/2006/relationships/image" Target="/ppt/media/image3.png" Id="Rdd2dfbc8547a43f7" /><Relationship Type="http://schemas.openxmlformats.org/officeDocument/2006/relationships/image" Target="/ppt/media/image4.png" Id="R367ed72737514c20" /><Relationship Type="http://schemas.openxmlformats.org/officeDocument/2006/relationships/notesSlide" Target="/ppt/notesSlides/notesSlide3.xml" Id="Re0f0749be0cf42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95caaa33648b7" /><Relationship Type="http://schemas.openxmlformats.org/officeDocument/2006/relationships/image" Target="/ppt/media/image5.png" Id="R1ced2244c17e48b5" /><Relationship Type="http://schemas.openxmlformats.org/officeDocument/2006/relationships/image" Target="/ppt/media/image6.png" Id="Rbd63f9e355a441f5" /><Relationship Type="http://schemas.openxmlformats.org/officeDocument/2006/relationships/notesSlide" Target="/ppt/notesSlides/notesSlide4.xml" Id="Rc17b13f5995b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77731e45c44c4" /><Relationship Type="http://schemas.openxmlformats.org/officeDocument/2006/relationships/notesSlide" Target="/ppt/notesSlides/notesSlide5.xml" Id="Ra7286614e4b3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2daf1b6f34607" /><Relationship Type="http://schemas.openxmlformats.org/officeDocument/2006/relationships/notesSlide" Target="/ppt/notesSlides/notesSlide6.xml" Id="R62da9d01c60b4b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73aa8a1aa4c42" /><Relationship Type="http://schemas.openxmlformats.org/officeDocument/2006/relationships/notesSlide" Target="/ppt/notesSlides/notesSlide7.xml" Id="Rf1da5171be95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9f1d11b774a33" /><Relationship Type="http://schemas.openxmlformats.org/officeDocument/2006/relationships/image" Target="/ppt/media/image7.png" Id="Rd5578ea1ef7a4b20" /><Relationship Type="http://schemas.openxmlformats.org/officeDocument/2006/relationships/notesSlide" Target="/ppt/notesSlides/notesSlide8.xml" Id="Rc795902e9b16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efb1e6da14d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F2730333-EF1A-40C2-B875-9E0FF21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2C3A">
                  <a:alpha val="92000"/>
                </a:srgbClr>
              </a:gs>
              <a:gs pos="58000">
                <a:srgbClr val="052C3A">
                  <a:alpha val="74000"/>
                </a:srgbClr>
              </a:gs>
              <a:gs pos="100000">
                <a:srgbClr val="052C3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1D164DC-C8B7-422A-9775-4D3128C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pill">
            <a:extLst xmlns:a="http://schemas.openxmlformats.org/drawingml/2006/main">
              <a:ext uri="{FF2B5EF4-FFF2-40B4-BE49-F238E27FC236}">
                <a16:creationId xmlns:a16="http://schemas.microsoft.com/office/drawing/2014/main" id="{AC500D95-CFD4-40E1-9C0A-5A00D03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2C3A"/>
                </a:solidFill>
              </a:defRPr>
            </a:pPr>
            <a:r>
              <a:rPr sz="1125" b="1" i="0">
                <a:solidFill>
                  <a:srgbClr val="052C3A"/>
                </a:solidFill>
              </a:rPr>
              <a:t>高雄出發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688425-954E-41DF-BF57-C090FA6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1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高屏，玩成一趟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海風深呼吸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907FC7F-8D84-4AB4-A0BE-45EA493B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8EC4B"/>
                </a:solidFill>
              </a:defRPr>
            </a:pPr>
            <a:r>
              <a:rPr sz="2400" b="1" i="0">
                <a:solidFill>
                  <a:srgbClr val="B8EC4B"/>
                </a:solidFill>
              </a:rPr>
              <a:t>東港 × 滿州</a:t>
            </a:r>
          </a:p>
        </p:txBody>
      </p:sp>
      <p:sp>
        <p:nvSpPr>
          <p:cNvPr id="7" name="cover-price">
            <a:extLst xmlns:a="http://schemas.openxmlformats.org/drawingml/2006/main">
              <a:ext uri="{FF2B5EF4-FFF2-40B4-BE49-F238E27FC236}">
                <a16:creationId xmlns:a16="http://schemas.microsoft.com/office/drawing/2014/main" id="{0BE6B132-3F5B-43C8-A383-4A9B4965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2 天 1 夜｜2 人 NT$10,000 內</a:t>
            </a:r>
          </a:p>
        </p:txBody>
      </p:sp>
      <p:sp>
        <p:nvSpPr>
          <p:cNvPr id="8" name="cover-copy">
            <a:extLst xmlns:a="http://schemas.openxmlformats.org/drawingml/2006/main">
              <a:ext uri="{FF2B5EF4-FFF2-40B4-BE49-F238E27FC236}">
                <a16:creationId xmlns:a16="http://schemas.microsoft.com/office/drawing/2014/main" id="{1732CF4F-6607-4156-89E9-161EC8F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4F6F7"/>
                </a:solidFill>
              </a:defRPr>
            </a:pPr>
            <a:r>
              <a:rPr sz="1500" b="0" i="0">
                <a:solidFill>
                  <a:srgbClr val="E4F6F7"/>
                </a:solidFill>
              </a:rPr>
              <a:t>文化、美食、海岸線，一趟收進南方最舒服的節奏。</a:t>
            </a:r>
          </a:p>
        </p:txBody>
      </p:sp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90152B6-2640-4038-A86D-0A83347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D9DA"/>
                </a:solidFill>
              </a:defRPr>
            </a:pPr>
            <a:r>
              <a:rPr sz="1125" b="1" i="0">
                <a:solidFill>
                  <a:srgbClr val="A4D9DA"/>
                </a:solidFill>
              </a:rPr>
              <a:t>GAOPING COASTAL ESCAPE</a:t>
            </a:r>
          </a:p>
        </p:txBody>
      </p:sp>
    </p:spTree>
    <p:extLst>
      <p:ext uri="{BB962C8B-B14F-4D97-AF65-F5344CB8AC3E}">
        <p14:creationId xmlns:p14="http://schemas.microsoft.com/office/powerpoint/2010/main" val="316236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mise-glow">
            <a:extLst xmlns:a="http://schemas.openxmlformats.org/drawingml/2006/main">
              <a:ext uri="{FF2B5EF4-FFF2-40B4-BE49-F238E27FC236}">
                <a16:creationId xmlns:a16="http://schemas.microsoft.com/office/drawing/2014/main" id="{A8F62EEF-A9A8-46F9-92FA-B8975058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8EC4B">
                  <a:alpha val="42000"/>
                </a:srgbClr>
              </a:gs>
              <a:gs pos="100000">
                <a:srgbClr val="B8EC4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promise-title">
            <a:extLst xmlns:a="http://schemas.openxmlformats.org/drawingml/2006/main">
              <a:ext uri="{FF2B5EF4-FFF2-40B4-BE49-F238E27FC236}">
                <a16:creationId xmlns:a16="http://schemas.microsoft.com/office/drawing/2014/main" id="{5AEFAAAC-BF31-48A9-A3FA-CF7273F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63B4A"/>
                </a:solidFill>
              </a:defRPr>
            </a:pPr>
            <a:r>
              <a:rPr sz="3150" b="1" i="0">
                <a:solidFill>
                  <a:srgbClr val="063B4A"/>
                </a:solidFill>
              </a:rPr>
              <a:t>一趟旅程，三種南方感受</a:t>
            </a:r>
          </a:p>
        </p:txBody>
      </p:sp>
      <p:sp>
        <p:nvSpPr>
          <p:cNvPr id="3" name="promise-subtitle">
            <a:extLst xmlns:a="http://schemas.openxmlformats.org/drawingml/2006/main">
              <a:ext uri="{FF2B5EF4-FFF2-40B4-BE49-F238E27FC236}">
                <a16:creationId xmlns:a16="http://schemas.microsoft.com/office/drawing/2014/main" id="{01A04BA0-BE01-467B-8B8B-D4114B0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717A"/>
                </a:solidFill>
              </a:defRPr>
            </a:pPr>
            <a:r>
              <a:rPr sz="1575" b="0" i="0">
                <a:solidFill>
                  <a:srgbClr val="55717A"/>
                </a:solidFill>
              </a:rPr>
              <a:t>東港的文化與鮮味，接上滿州的海風與地貌。</a:t>
            </a:r>
          </a:p>
        </p:txBody>
      </p:sp>
      <p:sp>
        <p:nvSpPr>
          <p:cNvPr id="4" name="promise-rule">
            <a:extLst xmlns:a="http://schemas.openxmlformats.org/drawingml/2006/main">
              <a:ext uri="{FF2B5EF4-FFF2-40B4-BE49-F238E27FC236}">
                <a16:creationId xmlns:a16="http://schemas.microsoft.com/office/drawing/2014/main" id="{9888D7AF-3AEC-416B-A463-AB30AF3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mise-culture">
            <a:extLst xmlns:a="http://schemas.openxmlformats.org/drawingml/2006/main">
              <a:ext uri="{FF2B5EF4-FFF2-40B4-BE49-F238E27FC236}">
                <a16:creationId xmlns:a16="http://schemas.microsoft.com/office/drawing/2014/main" id="{18E77995-C7AE-4E47-A27F-9217CCC4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63B4A"/>
                </a:solidFill>
              </a:defRPr>
            </a:pPr>
            <a:r>
              <a:rPr sz="2700" b="1" i="0">
                <a:solidFill>
                  <a:srgbClr val="063B4A"/>
                </a:solidFill>
              </a:rPr>
              <a:t>王船文化</a:t>
            </a:r>
          </a:p>
        </p:txBody>
      </p:sp>
      <p:sp>
        <p:nvSpPr>
          <p:cNvPr id="6" name="promise-culture-detail">
            <a:extLst xmlns:a="http://schemas.openxmlformats.org/drawingml/2006/main">
              <a:ext uri="{FF2B5EF4-FFF2-40B4-BE49-F238E27FC236}">
                <a16:creationId xmlns:a16="http://schemas.microsoft.com/office/drawing/2014/main" id="{A85416FE-7FDA-486E-9D02-AF0BF1BE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看見東港的信仰、建築與地方故事。</a:t>
            </a:r>
          </a:p>
        </p:txBody>
      </p:sp>
      <p:sp>
        <p:nvSpPr>
          <p:cNvPr id="7" name="promise-rule-2">
            <a:extLst xmlns:a="http://schemas.openxmlformats.org/drawingml/2006/main">
              <a:ext uri="{FF2B5EF4-FFF2-40B4-BE49-F238E27FC236}">
                <a16:creationId xmlns:a16="http://schemas.microsoft.com/office/drawing/2014/main" id="{53F59E13-C9B4-4958-A4D1-F97DA75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mise-food">
            <a:extLst xmlns:a="http://schemas.openxmlformats.org/drawingml/2006/main">
              <a:ext uri="{FF2B5EF4-FFF2-40B4-BE49-F238E27FC236}">
                <a16:creationId xmlns:a16="http://schemas.microsoft.com/office/drawing/2014/main" id="{186B8DFF-6630-473E-A65E-D57BCC2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87FC9"/>
                </a:solidFill>
              </a:defRPr>
            </a:pPr>
            <a:r>
              <a:rPr sz="2700" b="1" i="0">
                <a:solidFill>
                  <a:srgbClr val="087FC9"/>
                </a:solidFill>
              </a:rPr>
              <a:t>漁港鮮味</a:t>
            </a:r>
          </a:p>
        </p:txBody>
      </p:sp>
      <p:sp>
        <p:nvSpPr>
          <p:cNvPr id="9" name="promise-food-detail">
            <a:extLst xmlns:a="http://schemas.openxmlformats.org/drawingml/2006/main">
              <a:ext uri="{FF2B5EF4-FFF2-40B4-BE49-F238E27FC236}">
                <a16:creationId xmlns:a16="http://schemas.microsoft.com/office/drawing/2014/main" id="{6A65C350-0BD8-4C63-A1E6-623775A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黑鮪魚、生魚片、旗魚黑輪，吃得有選擇。</a:t>
            </a:r>
          </a:p>
        </p:txBody>
      </p:sp>
      <p:sp>
        <p:nvSpPr>
          <p:cNvPr id="10" name="promise-rule-3">
            <a:extLst xmlns:a="http://schemas.openxmlformats.org/drawingml/2006/main">
              <a:ext uri="{FF2B5EF4-FFF2-40B4-BE49-F238E27FC236}">
                <a16:creationId xmlns:a16="http://schemas.microsoft.com/office/drawing/2014/main" id="{F800824D-625F-4EEE-8A8E-3144AA78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mise-coast">
            <a:extLst xmlns:a="http://schemas.openxmlformats.org/drawingml/2006/main">
              <a:ext uri="{FF2B5EF4-FFF2-40B4-BE49-F238E27FC236}">
                <a16:creationId xmlns:a16="http://schemas.microsoft.com/office/drawing/2014/main" id="{3DAD9A31-8BA4-4525-B4C2-C03E8940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D9566"/>
                </a:solidFill>
              </a:defRPr>
            </a:pPr>
            <a:r>
              <a:rPr sz="2700" b="1" i="0">
                <a:solidFill>
                  <a:srgbClr val="0D9566"/>
                </a:solidFill>
              </a:rPr>
              <a:t>東岸海風</a:t>
            </a:r>
          </a:p>
        </p:txBody>
      </p:sp>
      <p:sp>
        <p:nvSpPr>
          <p:cNvPr id="12" name="promise-coast-detail">
            <a:extLst xmlns:a="http://schemas.openxmlformats.org/drawingml/2006/main">
              <a:ext uri="{FF2B5EF4-FFF2-40B4-BE49-F238E27FC236}">
                <a16:creationId xmlns:a16="http://schemas.microsoft.com/office/drawing/2014/main" id="{1E5C4962-CAC4-462F-8E9E-41EFE8C6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社頂、龍磐、風吹砂、佳樂水，一路把海看滿。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bf890240d4fd1"/>
          <a:srcRect xmlns:a="http://schemas.openxmlformats.org/drawingml/2006/main" l="27509" t="0" r="275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47700"/>
            <a:ext cx="4171950" cy="521970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14" name="promise-image-pill">
            <a:extLst xmlns:a="http://schemas.openxmlformats.org/drawingml/2006/main">
              <a:ext uri="{FF2B5EF4-FFF2-40B4-BE49-F238E27FC236}">
                <a16:creationId xmlns:a16="http://schemas.microsoft.com/office/drawing/2014/main" id="{35AD928B-FC88-4ACD-9F29-4C3E8B5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292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3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大鵬灣｜慢走 45–75 分</a:t>
            </a:r>
          </a:p>
        </p:txBody>
      </p:sp>
      <p:sp>
        <p:nvSpPr>
          <p:cNvPr id="1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FBB5783-7C6A-4CE3-ADBD-BB48CC7E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B259431-3806-4979-BC0E-768B18B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高雄 → 東港 → 滿州 → 高雄｜把吃、看、走排成一條順路的海岸線</a:t>
            </a:r>
          </a:p>
        </p:txBody>
      </p:sp>
      <p:sp>
        <p:nvSpPr>
          <p:cNvPr id="1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13E70FB-5A93-475C-9CBB-E72AFFC4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6603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day1-title">
            <a:extLst xmlns:a="http://schemas.openxmlformats.org/drawingml/2006/main">
              <a:ext uri="{FF2B5EF4-FFF2-40B4-BE49-F238E27FC236}">
                <a16:creationId xmlns:a16="http://schemas.microsoft.com/office/drawing/2014/main" id="{C7E21220-7327-4165-B7EE-CC3CCCE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3B4A"/>
                </a:solidFill>
              </a:defRPr>
            </a:pPr>
            <a:r>
              <a:rPr sz="2850" b="1" i="0">
                <a:solidFill>
                  <a:srgbClr val="063B4A"/>
                </a:solidFill>
              </a:rPr>
              <a:t>Day 1｜東港，先用文化和海鮮打開旅程</a:t>
            </a:r>
          </a:p>
        </p:txBody>
      </p:sp>
      <p:sp>
        <p:nvSpPr>
          <p:cNvPr id="2" name="day1-subtitle">
            <a:extLst xmlns:a="http://schemas.openxmlformats.org/drawingml/2006/main">
              <a:ext uri="{FF2B5EF4-FFF2-40B4-BE49-F238E27FC236}">
                <a16:creationId xmlns:a16="http://schemas.microsoft.com/office/drawing/2014/main" id="{F04B65E1-1A91-4467-BEF4-1E001B25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上午看王船、午餐進市場，下午留給大鵬灣夕陽。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dfbc8547a43f7"/>
          <a:srcRect xmlns:a="http://schemas.openxmlformats.org/drawingml/2006/main" l="12480" t="0" r="124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38300"/>
            <a:ext cx="49530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4" name="day1-temple-pill">
            <a:extLst xmlns:a="http://schemas.openxmlformats.org/drawingml/2006/main">
              <a:ext uri="{FF2B5EF4-FFF2-40B4-BE49-F238E27FC236}">
                <a16:creationId xmlns:a16="http://schemas.microsoft.com/office/drawing/2014/main" id="{3E0011AE-1F3C-4F70-8553-04F08B29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3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東港｜王船文化館 NT$120</a:t>
            </a:r>
          </a:p>
        </p:txBody>
      </p:sp>
      <p:sp>
        <p:nvSpPr>
          <p:cNvPr id="5" name="day1-row-1-time">
            <a:extLst xmlns:a="http://schemas.openxmlformats.org/drawingml/2006/main">
              <a:ext uri="{FF2B5EF4-FFF2-40B4-BE49-F238E27FC236}">
                <a16:creationId xmlns:a16="http://schemas.microsoft.com/office/drawing/2014/main" id="{B27F0CA7-B457-41A9-ACBE-90CC063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B878"/>
                </a:solidFill>
              </a:defRPr>
            </a:pPr>
            <a:r>
              <a:rPr sz="1425" b="1" i="0">
                <a:solidFill>
                  <a:srgbClr val="1FB878"/>
                </a:solidFill>
              </a:rPr>
              <a:t>09:00</a:t>
            </a:r>
          </a:p>
        </p:txBody>
      </p:sp>
      <p:sp>
        <p:nvSpPr>
          <p:cNvPr id="6" name="day1-row-1-title">
            <a:extLst xmlns:a="http://schemas.openxmlformats.org/drawingml/2006/main">
              <a:ext uri="{FF2B5EF4-FFF2-40B4-BE49-F238E27FC236}">
                <a16:creationId xmlns:a16="http://schemas.microsoft.com/office/drawing/2014/main" id="{AA7A3BDA-D511-4974-8305-F50028F8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43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東隆宮＋王船文化館</a:t>
            </a:r>
          </a:p>
        </p:txBody>
      </p:sp>
      <p:sp>
        <p:nvSpPr>
          <p:cNvPr id="7" name="day1-row-1-detail">
            <a:extLst xmlns:a="http://schemas.openxmlformats.org/drawingml/2006/main">
              <a:ext uri="{FF2B5EF4-FFF2-40B4-BE49-F238E27FC236}">
                <a16:creationId xmlns:a16="http://schemas.microsoft.com/office/drawing/2014/main" id="{4A028594-1685-4F44-83EF-72F516DB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看見東港王爺信仰與王船故事</a:t>
            </a:r>
          </a:p>
        </p:txBody>
      </p:sp>
      <p:sp>
        <p:nvSpPr>
          <p:cNvPr id="8" name="day1-row-1-rule">
            <a:extLst xmlns:a="http://schemas.openxmlformats.org/drawingml/2006/main">
              <a:ext uri="{FF2B5EF4-FFF2-40B4-BE49-F238E27FC236}">
                <a16:creationId xmlns:a16="http://schemas.microsoft.com/office/drawing/2014/main" id="{F71116A7-C327-48C4-8404-8FF7F7A4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y1-row-2-time">
            <a:extLst xmlns:a="http://schemas.openxmlformats.org/drawingml/2006/main">
              <a:ext uri="{FF2B5EF4-FFF2-40B4-BE49-F238E27FC236}">
                <a16:creationId xmlns:a16="http://schemas.microsoft.com/office/drawing/2014/main" id="{6BB084FD-1794-4C1E-A2EC-63AE4CE0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7FC9"/>
                </a:solidFill>
              </a:defRPr>
            </a:pPr>
            <a:r>
              <a:rPr sz="1425" b="1" i="0">
                <a:solidFill>
                  <a:srgbClr val="087FC9"/>
                </a:solidFill>
              </a:rPr>
              <a:t>11:30</a:t>
            </a:r>
          </a:p>
        </p:txBody>
      </p:sp>
      <p:sp>
        <p:nvSpPr>
          <p:cNvPr id="10" name="day1-row-2-title">
            <a:extLst xmlns:a="http://schemas.openxmlformats.org/drawingml/2006/main">
              <a:ext uri="{FF2B5EF4-FFF2-40B4-BE49-F238E27FC236}">
                <a16:creationId xmlns:a16="http://schemas.microsoft.com/office/drawing/2014/main" id="{DE6F9113-2CEB-40C5-BE88-40D31066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0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華僑市場午餐</a:t>
            </a:r>
          </a:p>
        </p:txBody>
      </p:sp>
      <p:sp>
        <p:nvSpPr>
          <p:cNvPr id="11" name="day1-row-2-detail">
            <a:extLst xmlns:a="http://schemas.openxmlformats.org/drawingml/2006/main">
              <a:ext uri="{FF2B5EF4-FFF2-40B4-BE49-F238E27FC236}">
                <a16:creationId xmlns:a16="http://schemas.microsoft.com/office/drawing/2014/main" id="{60EF015C-A76A-4F72-9563-338C373E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黑鮪魚、生魚片、在地漁產一次選</a:t>
            </a:r>
          </a:p>
        </p:txBody>
      </p:sp>
      <p:sp>
        <p:nvSpPr>
          <p:cNvPr id="12" name="day1-row-2-rule">
            <a:extLst xmlns:a="http://schemas.openxmlformats.org/drawingml/2006/main">
              <a:ext uri="{FF2B5EF4-FFF2-40B4-BE49-F238E27FC236}">
                <a16:creationId xmlns:a16="http://schemas.microsoft.com/office/drawing/2014/main" id="{24526142-90D6-430A-A62B-AE7E55B1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y1-row-3-time">
            <a:extLst xmlns:a="http://schemas.openxmlformats.org/drawingml/2006/main">
              <a:ext uri="{FF2B5EF4-FFF2-40B4-BE49-F238E27FC236}">
                <a16:creationId xmlns:a16="http://schemas.microsoft.com/office/drawing/2014/main" id="{C229F22E-5F3B-49EA-A909-8768ED7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AA7E8"/>
                </a:solidFill>
              </a:defRPr>
            </a:pPr>
            <a:r>
              <a:rPr sz="1425" b="1" i="0">
                <a:solidFill>
                  <a:srgbClr val="1AA7E8"/>
                </a:solidFill>
              </a:rPr>
              <a:t>13:15</a:t>
            </a:r>
          </a:p>
        </p:txBody>
      </p:sp>
      <p:sp>
        <p:nvSpPr>
          <p:cNvPr id="14" name="day1-row-3-title">
            <a:extLst xmlns:a="http://schemas.openxmlformats.org/drawingml/2006/main">
              <a:ext uri="{FF2B5EF4-FFF2-40B4-BE49-F238E27FC236}">
                <a16:creationId xmlns:a16="http://schemas.microsoft.com/office/drawing/2014/main" id="{666B5177-31F6-40B4-BD3E-F9BBEC7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57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大鵬灣遊客中心</a:t>
            </a:r>
          </a:p>
        </p:txBody>
      </p:sp>
      <p:sp>
        <p:nvSpPr>
          <p:cNvPr id="15" name="day1-row-3-detail">
            <a:extLst xmlns:a="http://schemas.openxmlformats.org/drawingml/2006/main">
              <a:ext uri="{FF2B5EF4-FFF2-40B4-BE49-F238E27FC236}">
                <a16:creationId xmlns:a16="http://schemas.microsoft.com/office/drawing/2014/main" id="{ACAF1208-694D-443F-A7A0-C3100AC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接上潟湖、人工濕地與環灣散步</a:t>
            </a:r>
          </a:p>
        </p:txBody>
      </p:sp>
      <p:sp>
        <p:nvSpPr>
          <p:cNvPr id="16" name="day1-row-3-rule">
            <a:extLst xmlns:a="http://schemas.openxmlformats.org/drawingml/2006/main">
              <a:ext uri="{FF2B5EF4-FFF2-40B4-BE49-F238E27FC236}">
                <a16:creationId xmlns:a16="http://schemas.microsoft.com/office/drawing/2014/main" id="{479D76EB-86D9-401B-8199-E8EB6DC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y1-row-4-time">
            <a:extLst xmlns:a="http://schemas.openxmlformats.org/drawingml/2006/main">
              <a:ext uri="{FF2B5EF4-FFF2-40B4-BE49-F238E27FC236}">
                <a16:creationId xmlns:a16="http://schemas.microsoft.com/office/drawing/2014/main" id="{46E321C1-1FB1-4781-90A1-60DB9A0D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D9566"/>
                </a:solidFill>
              </a:defRPr>
            </a:pPr>
            <a:r>
              <a:rPr sz="1425" b="1" i="0">
                <a:solidFill>
                  <a:srgbClr val="0D9566"/>
                </a:solidFill>
              </a:rPr>
              <a:t>15:25</a:t>
            </a:r>
          </a:p>
        </p:txBody>
      </p:sp>
      <p:sp>
        <p:nvSpPr>
          <p:cNvPr id="18" name="day1-row-4-title">
            <a:extLst xmlns:a="http://schemas.openxmlformats.org/drawingml/2006/main">
              <a:ext uri="{FF2B5EF4-FFF2-40B4-BE49-F238E27FC236}">
                <a16:creationId xmlns:a16="http://schemas.microsoft.com/office/drawing/2014/main" id="{4D19F907-98F4-442C-9DA9-21997E7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14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濱灣碼頭 → 跨海大橋</a:t>
            </a:r>
          </a:p>
        </p:txBody>
      </p:sp>
      <p:sp>
        <p:nvSpPr>
          <p:cNvPr id="19" name="day1-row-4-detail">
            <a:extLst xmlns:a="http://schemas.openxmlformats.org/drawingml/2006/main">
              <a:ext uri="{FF2B5EF4-FFF2-40B4-BE49-F238E27FC236}">
                <a16:creationId xmlns:a16="http://schemas.microsoft.com/office/drawing/2014/main" id="{396BD815-528F-4508-B1F2-E5BBE8B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把海景留到夕陽，舒服收尾</a:t>
            </a:r>
          </a:p>
        </p:txBody>
      </p:sp>
      <p:sp>
        <p:nvSpPr>
          <p:cNvPr id="20" name="day1-row-4-rule">
            <a:extLst xmlns:a="http://schemas.openxmlformats.org/drawingml/2006/main">
              <a:ext uri="{FF2B5EF4-FFF2-40B4-BE49-F238E27FC236}">
                <a16:creationId xmlns:a16="http://schemas.microsoft.com/office/drawing/2014/main" id="{0708ACAC-EB95-418F-B965-813EDFB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ed72737514c20"/>
          <a:srcRect xmlns:a="http://schemas.openxmlformats.org/drawingml/2006/main" l="0" t="36255" r="0" b="36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276850"/>
            <a:ext cx="5048250" cy="781050"/>
          </a:xfrm>
          <a:prstGeom xmlns:a="http://schemas.openxmlformats.org/drawingml/2006/main" prst="roundRect">
            <a:avLst>
              <a:gd name="adj" fmla="val 14634"/>
            </a:avLst>
          </a:prstGeom>
        </p:spPr>
      </p:pic>
      <p:sp>
        <p:nvSpPr>
          <p:cNvPr id="22" name="day1-food-note">
            <a:extLst xmlns:a="http://schemas.openxmlformats.org/drawingml/2006/main">
              <a:ext uri="{FF2B5EF4-FFF2-40B4-BE49-F238E27FC236}">
                <a16:creationId xmlns:a16="http://schemas.microsoft.com/office/drawing/2014/main" id="{57F14E66-1433-452D-961C-9087B1EB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53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5717A"/>
                </a:solidFill>
              </a:defRPr>
            </a:pPr>
            <a:r>
              <a:rPr sz="1125" b="0" i="1">
                <a:solidFill>
                  <a:srgbClr val="55717A"/>
                </a:solidFill>
              </a:rPr>
              <a:t>鮮味不必吃滿桌：午餐抓 NT$600–800／2 人，晚餐留 NT$700–900。</a:t>
            </a:r>
          </a:p>
        </p:txBody>
      </p:sp>
      <p:sp>
        <p:nvSpPr>
          <p:cNvPr id="2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3F31BC7-93CC-43E7-B834-83F780E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14D7D47-0F51-4455-8FE9-97F5FDB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DAY 1｜東港文化、美食與大鵬灣夕陽</a:t>
            </a:r>
          </a:p>
        </p:txBody>
      </p:sp>
      <p:sp>
        <p:nvSpPr>
          <p:cNvPr id="2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B8D60B4-3AF4-4F29-99F7-D992BBB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8770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day2-title">
            <a:extLst xmlns:a="http://schemas.openxmlformats.org/drawingml/2006/main">
              <a:ext uri="{FF2B5EF4-FFF2-40B4-BE49-F238E27FC236}">
                <a16:creationId xmlns:a16="http://schemas.microsoft.com/office/drawing/2014/main" id="{0718E266-B865-44C7-821C-C2602F6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3B4A"/>
                </a:solidFill>
              </a:defRPr>
            </a:pPr>
            <a:r>
              <a:rPr sz="2850" b="1" i="0">
                <a:solidFill>
                  <a:srgbClr val="063B4A"/>
                </a:solidFill>
              </a:rPr>
              <a:t>Day 2｜沿著東岸，把海景一路看進心裡</a:t>
            </a:r>
          </a:p>
        </p:txBody>
      </p:sp>
      <p:sp>
        <p:nvSpPr>
          <p:cNvPr id="2" name="day2-subtitle">
            <a:extLst xmlns:a="http://schemas.openxmlformats.org/drawingml/2006/main">
              <a:ext uri="{FF2B5EF4-FFF2-40B4-BE49-F238E27FC236}">
                <a16:creationId xmlns:a16="http://schemas.microsoft.com/office/drawing/2014/main" id="{3AB4BC86-D8B9-4BE3-A21F-2B4CD70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早出發，才有餘裕把社頂、東岸海景與佳樂水走得漂亮。</a:t>
            </a:r>
          </a:p>
        </p:txBody>
      </p:sp>
      <p:sp>
        <p:nvSpPr>
          <p:cNvPr id="3" name="day2-route-line">
            <a:extLst xmlns:a="http://schemas.openxmlformats.org/drawingml/2006/main">
              <a:ext uri="{FF2B5EF4-FFF2-40B4-BE49-F238E27FC236}">
                <a16:creationId xmlns:a16="http://schemas.microsoft.com/office/drawing/2014/main" id="{49783054-E622-4A4D-B5E6-AA725F9B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381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y2-stop-1-dot">
            <a:extLst xmlns:a="http://schemas.openxmlformats.org/drawingml/2006/main">
              <a:ext uri="{FF2B5EF4-FFF2-40B4-BE49-F238E27FC236}">
                <a16:creationId xmlns:a16="http://schemas.microsoft.com/office/drawing/2014/main" id="{162091C4-9BA4-4569-A09B-644F884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76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y2-stop-1-number">
            <a:extLst xmlns:a="http://schemas.openxmlformats.org/drawingml/2006/main">
              <a:ext uri="{FF2B5EF4-FFF2-40B4-BE49-F238E27FC236}">
                <a16:creationId xmlns:a16="http://schemas.microsoft.com/office/drawing/2014/main" id="{4F24414B-53A0-4E5D-B6FE-B6188938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day2-stop-1-label">
            <a:extLst xmlns:a="http://schemas.openxmlformats.org/drawingml/2006/main">
              <a:ext uri="{FF2B5EF4-FFF2-40B4-BE49-F238E27FC236}">
                <a16:creationId xmlns:a16="http://schemas.microsoft.com/office/drawing/2014/main" id="{CB7488B6-DE56-4EDD-BA50-FEEA8680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668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社頂</a:t>
            </a:r>
          </a:p>
        </p:txBody>
      </p:sp>
      <p:sp>
        <p:nvSpPr>
          <p:cNvPr id="7" name="day2-stop-1-sublabel">
            <a:extLst xmlns:a="http://schemas.openxmlformats.org/drawingml/2006/main">
              <a:ext uri="{FF2B5EF4-FFF2-40B4-BE49-F238E27FC236}">
                <a16:creationId xmlns:a16="http://schemas.microsoft.com/office/drawing/2014/main" id="{55C54F2C-4D59-4650-B066-581C66BD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526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自然健行 60–90 分</a:t>
            </a:r>
          </a:p>
        </p:txBody>
      </p:sp>
      <p:sp>
        <p:nvSpPr>
          <p:cNvPr id="8" name="day2-stop-2-dot">
            <a:extLst xmlns:a="http://schemas.openxmlformats.org/drawingml/2006/main">
              <a:ext uri="{FF2B5EF4-FFF2-40B4-BE49-F238E27FC236}">
                <a16:creationId xmlns:a16="http://schemas.microsoft.com/office/drawing/2014/main" id="{B2CD9DB0-E75F-4E54-BC78-342EF7E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y2-stop-2-number">
            <a:extLst xmlns:a="http://schemas.openxmlformats.org/drawingml/2006/main">
              <a:ext uri="{FF2B5EF4-FFF2-40B4-BE49-F238E27FC236}">
                <a16:creationId xmlns:a16="http://schemas.microsoft.com/office/drawing/2014/main" id="{18A2E986-F660-4A07-89C6-E5687C5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day2-stop-2-label">
            <a:extLst xmlns:a="http://schemas.openxmlformats.org/drawingml/2006/main">
              <a:ext uri="{FF2B5EF4-FFF2-40B4-BE49-F238E27FC236}">
                <a16:creationId xmlns:a16="http://schemas.microsoft.com/office/drawing/2014/main" id="{32359AFC-2AA1-4065-83DA-1CF2D04D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84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東岸三景</a:t>
            </a:r>
          </a:p>
        </p:txBody>
      </p:sp>
      <p:sp>
        <p:nvSpPr>
          <p:cNvPr id="11" name="day2-stop-2-sublabel">
            <a:extLst xmlns:a="http://schemas.openxmlformats.org/drawingml/2006/main">
              <a:ext uri="{FF2B5EF4-FFF2-40B4-BE49-F238E27FC236}">
                <a16:creationId xmlns:a16="http://schemas.microsoft.com/office/drawing/2014/main" id="{AC8E2AEB-73AF-4C42-ADA9-1D521931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241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鵝鑾鼻／龍磐／風吹砂</a:t>
            </a:r>
          </a:p>
        </p:txBody>
      </p:sp>
      <p:sp>
        <p:nvSpPr>
          <p:cNvPr id="12" name="day2-stop-3-dot">
            <a:extLst xmlns:a="http://schemas.openxmlformats.org/drawingml/2006/main">
              <a:ext uri="{FF2B5EF4-FFF2-40B4-BE49-F238E27FC236}">
                <a16:creationId xmlns:a16="http://schemas.microsoft.com/office/drawing/2014/main" id="{4CFB2E0A-165F-41E5-93E2-586A848C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ay2-stop-3-number">
            <a:extLst xmlns:a="http://schemas.openxmlformats.org/drawingml/2006/main">
              <a:ext uri="{FF2B5EF4-FFF2-40B4-BE49-F238E27FC236}">
                <a16:creationId xmlns:a16="http://schemas.microsoft.com/office/drawing/2014/main" id="{71242530-8CD0-4141-B93C-22D7EAF5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day2-stop-3-label">
            <a:extLst xmlns:a="http://schemas.openxmlformats.org/drawingml/2006/main">
              <a:ext uri="{FF2B5EF4-FFF2-40B4-BE49-F238E27FC236}">
                <a16:creationId xmlns:a16="http://schemas.microsoft.com/office/drawing/2014/main" id="{2FA44667-7069-408B-B9FD-502A04A9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99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佳樂水</a:t>
            </a:r>
          </a:p>
        </p:txBody>
      </p:sp>
      <p:sp>
        <p:nvSpPr>
          <p:cNvPr id="15" name="day2-stop-3-sublabel">
            <a:extLst xmlns:a="http://schemas.openxmlformats.org/drawingml/2006/main">
              <a:ext uri="{FF2B5EF4-FFF2-40B4-BE49-F238E27FC236}">
                <a16:creationId xmlns:a16="http://schemas.microsoft.com/office/drawing/2014/main" id="{C29699E9-CEF9-4BD8-B771-79C0B203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957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海蝕地形 60–90 分</a:t>
            </a:r>
          </a:p>
        </p:txBody>
      </p:sp>
      <p:sp>
        <p:nvSpPr>
          <p:cNvPr id="16" name="day2-stop-4-dot">
            <a:extLst xmlns:a="http://schemas.openxmlformats.org/drawingml/2006/main">
              <a:ext uri="{FF2B5EF4-FFF2-40B4-BE49-F238E27FC236}">
                <a16:creationId xmlns:a16="http://schemas.microsoft.com/office/drawing/2014/main" id="{C63F4856-F1FF-434B-8330-EB9E86ED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5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y2-stop-4-number">
            <a:extLst xmlns:a="http://schemas.openxmlformats.org/drawingml/2006/main">
              <a:ext uri="{FF2B5EF4-FFF2-40B4-BE49-F238E27FC236}">
                <a16:creationId xmlns:a16="http://schemas.microsoft.com/office/drawing/2014/main" id="{4E60043F-05BE-46BE-8389-127F9488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day2-stop-4-label">
            <a:extLst xmlns:a="http://schemas.openxmlformats.org/drawingml/2006/main">
              <a:ext uri="{FF2B5EF4-FFF2-40B4-BE49-F238E27FC236}">
                <a16:creationId xmlns:a16="http://schemas.microsoft.com/office/drawing/2014/main" id="{46688982-9B61-4A21-A26C-BFA39FDA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815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3B4A"/>
                </a:solidFill>
              </a:defRPr>
            </a:pPr>
            <a:r>
              <a:rPr sz="1500" b="1" i="0">
                <a:solidFill>
                  <a:srgbClr val="063B4A"/>
                </a:solidFill>
              </a:rPr>
              <a:t>港口與滿州</a:t>
            </a:r>
          </a:p>
        </p:txBody>
      </p:sp>
      <p:sp>
        <p:nvSpPr>
          <p:cNvPr id="19" name="day2-stop-4-sublabel">
            <a:extLst xmlns:a="http://schemas.openxmlformats.org/drawingml/2006/main">
              <a:ext uri="{FF2B5EF4-FFF2-40B4-BE49-F238E27FC236}">
                <a16:creationId xmlns:a16="http://schemas.microsoft.com/office/drawing/2014/main" id="{51B34D9D-B9BB-476A-81E9-59F644F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67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717A"/>
                </a:solidFill>
              </a:defRPr>
            </a:pPr>
            <a:r>
              <a:rPr sz="1125" b="0" i="0">
                <a:solidFill>
                  <a:srgbClr val="55717A"/>
                </a:solidFill>
              </a:rPr>
              <a:t>溪口／吊橋／聚落補給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d2244c17e48b5"/>
          <a:srcRect xmlns:a="http://schemas.openxmlformats.org/drawingml/2006/main" l="0" t="14265" r="0" b="142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300" y="1581150"/>
            <a:ext cx="6819900" cy="27432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21" name="day2-coast-pill">
            <a:extLst xmlns:a="http://schemas.openxmlformats.org/drawingml/2006/main">
              <a:ext uri="{FF2B5EF4-FFF2-40B4-BE49-F238E27FC236}">
                <a16:creationId xmlns:a16="http://schemas.microsoft.com/office/drawing/2014/main" id="{259BF792-1384-4FC5-91FF-B7C2390B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533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63B4A"/>
                </a:solidFill>
              </a:defRPr>
            </a:pPr>
            <a:r>
              <a:rPr sz="1125" b="1" i="0">
                <a:solidFill>
                  <a:srgbClr val="063B4A"/>
                </a:solidFill>
              </a:rPr>
              <a:t>東岸環線｜海、草原、風成地貌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3f9e355a441f5"/>
          <a:srcRect xmlns:a="http://schemas.openxmlformats.org/drawingml/2006/main" l="0" t="4324" r="0" b="4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6300" y="4552950"/>
            <a:ext cx="3371850" cy="1733550"/>
          </a:xfrm>
          <a:prstGeom xmlns:a="http://schemas.openxmlformats.org/drawingml/2006/main" prst="roundRect">
            <a:avLst>
              <a:gd name="adj" fmla="val 6593"/>
            </a:avLst>
          </a:prstGeom>
        </p:spPr>
      </p:pic>
      <p:sp>
        <p:nvSpPr>
          <p:cNvPr id="23" name="day2-highlight">
            <a:extLst xmlns:a="http://schemas.openxmlformats.org/drawingml/2006/main">
              <a:ext uri="{FF2B5EF4-FFF2-40B4-BE49-F238E27FC236}">
                <a16:creationId xmlns:a16="http://schemas.microsoft.com/office/drawing/2014/main" id="{3AA4D1B9-7551-4C62-A4FD-44C2840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3B4A"/>
                </a:solidFill>
              </a:defRPr>
            </a:pPr>
            <a:r>
              <a:rPr sz="1725" b="1" i="0">
                <a:solidFill>
                  <a:srgbClr val="063B4A"/>
                </a:solidFill>
              </a:rPr>
              <a:t>佳樂水：把浪花與岩層，留成這趟旅程的記憶點。</a:t>
            </a:r>
          </a:p>
        </p:txBody>
      </p:sp>
      <p:sp>
        <p:nvSpPr>
          <p:cNvPr id="24" name="day2-caveat">
            <a:extLst xmlns:a="http://schemas.openxmlformats.org/drawingml/2006/main">
              <a:ext uri="{FF2B5EF4-FFF2-40B4-BE49-F238E27FC236}">
                <a16:creationId xmlns:a16="http://schemas.microsoft.com/office/drawing/2014/main" id="{2B9AD6A1-51BA-4D26-8B4A-51208A5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81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55717A"/>
                </a:solidFill>
              </a:defRPr>
            </a:pPr>
            <a:r>
              <a:rPr sz="1125" b="0" i="1">
                <a:solidFill>
                  <a:srgbClr val="55717A"/>
                </a:solidFill>
              </a:rPr>
              <a:t>全票規劃抓 NT$80；官方頁面有票價差異，出發前再核對。</a:t>
            </a:r>
          </a:p>
        </p:txBody>
      </p:sp>
      <p:sp>
        <p:nvSpPr>
          <p:cNvPr id="2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EF860CE-667C-415D-BA57-65C7E91F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7A153F1-4281-441C-B5B1-DA7D6823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DAY 2｜社頂 → 鵝鑾鼻 → 龍磐 → 風吹砂 → 佳樂水 → 港口／滿州</a:t>
            </a:r>
          </a:p>
        </p:txBody>
      </p:sp>
      <p:sp>
        <p:nvSpPr>
          <p:cNvPr id="2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C25B8284-B76A-4832-BE0F-44D2C8E2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3889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udget-accent">
            <a:extLst xmlns:a="http://schemas.openxmlformats.org/drawingml/2006/main">
              <a:ext uri="{FF2B5EF4-FFF2-40B4-BE49-F238E27FC236}">
                <a16:creationId xmlns:a16="http://schemas.microsoft.com/office/drawing/2014/main" id="{9A2BA815-8B3E-4EC1-8B07-C258CE9D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udget-title">
            <a:extLst xmlns:a="http://schemas.openxmlformats.org/drawingml/2006/main">
              <a:ext uri="{FF2B5EF4-FFF2-40B4-BE49-F238E27FC236}">
                <a16:creationId xmlns:a16="http://schemas.microsoft.com/office/drawing/2014/main" id="{A7E91CE5-08F6-4CDD-9DE9-4548118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完整一趟，預算還留著呼吸</a:t>
            </a:r>
          </a:p>
        </p:txBody>
      </p:sp>
      <p:sp>
        <p:nvSpPr>
          <p:cNvPr id="3" name="budget-total">
            <a:extLst xmlns:a="http://schemas.openxmlformats.org/drawingml/2006/main">
              <a:ext uri="{FF2B5EF4-FFF2-40B4-BE49-F238E27FC236}">
                <a16:creationId xmlns:a16="http://schemas.microsoft.com/office/drawing/2014/main" id="{35AD8CB3-1275-4DF8-A758-D6FACEB2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B8EC4B"/>
                </a:solidFill>
              </a:defRPr>
            </a:pPr>
            <a:r>
              <a:rPr sz="5550" b="1" i="0">
                <a:solidFill>
                  <a:srgbClr val="B8EC4B"/>
                </a:solidFill>
              </a:rPr>
              <a:t>NT$8,680</a:t>
            </a:r>
          </a:p>
        </p:txBody>
      </p:sp>
      <p:sp>
        <p:nvSpPr>
          <p:cNvPr id="4" name="budget-subtitle">
            <a:extLst xmlns:a="http://schemas.openxmlformats.org/drawingml/2006/main">
              <a:ext uri="{FF2B5EF4-FFF2-40B4-BE49-F238E27FC236}">
                <a16:creationId xmlns:a16="http://schemas.microsoft.com/office/drawing/2014/main" id="{D6D14F37-D3FA-4A91-A6FA-FB3D23A1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DF8EE"/>
                </a:solidFill>
              </a:defRPr>
            </a:pPr>
            <a:r>
              <a:rPr sz="1425" b="1" i="0">
                <a:solidFill>
                  <a:srgbClr val="DDF8EE"/>
                </a:solidFill>
              </a:rPr>
              <a:t>2 人｜2 天 1 夜｜主推薦自駕</a:t>
            </a:r>
          </a:p>
        </p:txBody>
      </p:sp>
      <p:sp>
        <p:nvSpPr>
          <p:cNvPr id="5" name="budget-0-label">
            <a:extLst xmlns:a="http://schemas.openxmlformats.org/drawingml/2006/main">
              <a:ext uri="{FF2B5EF4-FFF2-40B4-BE49-F238E27FC236}">
                <a16:creationId xmlns:a16="http://schemas.microsoft.com/office/drawing/2014/main" id="{CE9B3BB6-3C00-4C3D-8979-2B35B59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交通</a:t>
            </a:r>
          </a:p>
        </p:txBody>
      </p:sp>
      <p:sp>
        <p:nvSpPr>
          <p:cNvPr id="6" name="budget-0-track">
            <a:extLst xmlns:a="http://schemas.openxmlformats.org/drawingml/2006/main">
              <a:ext uri="{FF2B5EF4-FFF2-40B4-BE49-F238E27FC236}">
                <a16:creationId xmlns:a16="http://schemas.microsoft.com/office/drawing/2014/main" id="{B6E8C1B7-DE78-4B7A-9028-584741A8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dget-0-bar">
            <a:extLst xmlns:a="http://schemas.openxmlformats.org/drawingml/2006/main">
              <a:ext uri="{FF2B5EF4-FFF2-40B4-BE49-F238E27FC236}">
                <a16:creationId xmlns:a16="http://schemas.microsoft.com/office/drawing/2014/main" id="{A581A15B-6AD3-4731-B920-BEE22323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715768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dget-0-value">
            <a:extLst xmlns:a="http://schemas.openxmlformats.org/drawingml/2006/main">
              <a:ext uri="{FF2B5EF4-FFF2-40B4-BE49-F238E27FC236}">
                <a16:creationId xmlns:a16="http://schemas.microsoft.com/office/drawing/2014/main" id="{E7FB1D13-F8DC-4888-A9C8-B7232683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52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NT$3,150</a:t>
            </a:r>
          </a:p>
        </p:txBody>
      </p:sp>
      <p:sp>
        <p:nvSpPr>
          <p:cNvPr id="9" name="budget-1-label">
            <a:extLst xmlns:a="http://schemas.openxmlformats.org/drawingml/2006/main">
              <a:ext uri="{FF2B5EF4-FFF2-40B4-BE49-F238E27FC236}">
                <a16:creationId xmlns:a16="http://schemas.microsoft.com/office/drawing/2014/main" id="{19A72F0B-06C8-424F-9C4C-116324D1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餐飲</a:t>
            </a:r>
          </a:p>
        </p:txBody>
      </p:sp>
      <p:sp>
        <p:nvSpPr>
          <p:cNvPr id="10" name="budget-1-track">
            <a:extLst xmlns:a="http://schemas.openxmlformats.org/drawingml/2006/main">
              <a:ext uri="{FF2B5EF4-FFF2-40B4-BE49-F238E27FC236}">
                <a16:creationId xmlns:a16="http://schemas.microsoft.com/office/drawing/2014/main" id="{BEED8F2C-F8F3-4439-BFAD-0DD027D5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dget-1-bar">
            <a:extLst xmlns:a="http://schemas.openxmlformats.org/drawingml/2006/main">
              <a:ext uri="{FF2B5EF4-FFF2-40B4-BE49-F238E27FC236}">
                <a16:creationId xmlns:a16="http://schemas.microsoft.com/office/drawing/2014/main" id="{8898504C-6BC3-409D-B4A4-DDB120E0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2338578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dget-1-value">
            <a:extLst xmlns:a="http://schemas.openxmlformats.org/drawingml/2006/main">
              <a:ext uri="{FF2B5EF4-FFF2-40B4-BE49-F238E27FC236}">
                <a16:creationId xmlns:a16="http://schemas.microsoft.com/office/drawing/2014/main" id="{AD451D6C-7425-4F9C-955A-A85BF5C0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671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NT$2,700</a:t>
            </a:r>
          </a:p>
        </p:txBody>
      </p:sp>
      <p:sp>
        <p:nvSpPr>
          <p:cNvPr id="13" name="budget-2-label">
            <a:extLst xmlns:a="http://schemas.openxmlformats.org/drawingml/2006/main">
              <a:ext uri="{FF2B5EF4-FFF2-40B4-BE49-F238E27FC236}">
                <a16:creationId xmlns:a16="http://schemas.microsoft.com/office/drawing/2014/main" id="{7F487BB3-3CE4-4D83-B525-E6F9774B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住宿</a:t>
            </a:r>
          </a:p>
        </p:txBody>
      </p:sp>
      <p:sp>
        <p:nvSpPr>
          <p:cNvPr id="14" name="budget-2-track">
            <a:extLst xmlns:a="http://schemas.openxmlformats.org/drawingml/2006/main">
              <a:ext uri="{FF2B5EF4-FFF2-40B4-BE49-F238E27FC236}">
                <a16:creationId xmlns:a16="http://schemas.microsoft.com/office/drawing/2014/main" id="{9234565C-1316-4A52-881B-D829E8C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dget-2-bar">
            <a:extLst xmlns:a="http://schemas.openxmlformats.org/drawingml/2006/main">
              <a:ext uri="{FF2B5EF4-FFF2-40B4-BE49-F238E27FC236}">
                <a16:creationId xmlns:a16="http://schemas.microsoft.com/office/drawing/2014/main" id="{F1D8D62D-EDF7-467C-AEF4-6FA4F71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154647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dget-2-value">
            <a:extLst xmlns:a="http://schemas.openxmlformats.org/drawingml/2006/main">
              <a:ext uri="{FF2B5EF4-FFF2-40B4-BE49-F238E27FC236}">
                <a16:creationId xmlns:a16="http://schemas.microsoft.com/office/drawing/2014/main" id="{09CBEC9D-A76E-40E9-AC1D-F12A75D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81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NT$1,750</a:t>
            </a:r>
          </a:p>
        </p:txBody>
      </p:sp>
      <p:sp>
        <p:nvSpPr>
          <p:cNvPr id="17" name="budget-3-label">
            <a:extLst xmlns:a="http://schemas.openxmlformats.org/drawingml/2006/main">
              <a:ext uri="{FF2B5EF4-FFF2-40B4-BE49-F238E27FC236}">
                <a16:creationId xmlns:a16="http://schemas.microsoft.com/office/drawing/2014/main" id="{F26ABE01-0CDC-4A56-876A-A968ADF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門票</a:t>
            </a:r>
          </a:p>
        </p:txBody>
      </p:sp>
      <p:sp>
        <p:nvSpPr>
          <p:cNvPr id="18" name="budget-3-track">
            <a:extLst xmlns:a="http://schemas.openxmlformats.org/drawingml/2006/main">
              <a:ext uri="{FF2B5EF4-FFF2-40B4-BE49-F238E27FC236}">
                <a16:creationId xmlns:a16="http://schemas.microsoft.com/office/drawing/2014/main" id="{85AD9D6D-1B47-4D4E-8FC0-59FBA14E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dget-3-bar">
            <a:extLst xmlns:a="http://schemas.openxmlformats.org/drawingml/2006/main">
              <a:ext uri="{FF2B5EF4-FFF2-40B4-BE49-F238E27FC236}">
                <a16:creationId xmlns:a16="http://schemas.microsoft.com/office/drawing/2014/main" id="{C73080A0-CEFC-4D17-BBDC-A3198415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67894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dget-3-value">
            <a:extLst xmlns:a="http://schemas.openxmlformats.org/drawingml/2006/main">
              <a:ext uri="{FF2B5EF4-FFF2-40B4-BE49-F238E27FC236}">
                <a16:creationId xmlns:a16="http://schemas.microsoft.com/office/drawing/2014/main" id="{C04CF753-F6B0-4338-8531-766673B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958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NT$580</a:t>
            </a:r>
          </a:p>
        </p:txBody>
      </p:sp>
      <p:sp>
        <p:nvSpPr>
          <p:cNvPr id="21" name="budget-4-label">
            <a:extLst xmlns:a="http://schemas.openxmlformats.org/drawingml/2006/main">
              <a:ext uri="{FF2B5EF4-FFF2-40B4-BE49-F238E27FC236}">
                <a16:creationId xmlns:a16="http://schemas.microsoft.com/office/drawing/2014/main" id="{2854AD10-D461-4C4C-B739-B83DC3F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F8EE"/>
                </a:solidFill>
              </a:defRPr>
            </a:pPr>
            <a:r>
              <a:rPr sz="1275" b="1" i="0">
                <a:solidFill>
                  <a:srgbClr val="DDF8EE"/>
                </a:solidFill>
              </a:rPr>
              <a:t>備用</a:t>
            </a:r>
          </a:p>
        </p:txBody>
      </p:sp>
      <p:sp>
        <p:nvSpPr>
          <p:cNvPr id="22" name="budget-4-track">
            <a:extLst xmlns:a="http://schemas.openxmlformats.org/drawingml/2006/main">
              <a:ext uri="{FF2B5EF4-FFF2-40B4-BE49-F238E27FC236}">
                <a16:creationId xmlns:a16="http://schemas.microsoft.com/office/drawing/2014/main" id="{D82A7E6C-D2F1-4B74-A4B6-4CE5FADA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3771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dget-4-bar">
            <a:extLst xmlns:a="http://schemas.openxmlformats.org/drawingml/2006/main">
              <a:ext uri="{FF2B5EF4-FFF2-40B4-BE49-F238E27FC236}">
                <a16:creationId xmlns:a16="http://schemas.microsoft.com/office/drawing/2014/main" id="{6EFDF4F4-9663-4299-9E12-04D27819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528066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dget-4-value">
            <a:extLst xmlns:a="http://schemas.openxmlformats.org/drawingml/2006/main">
              <a:ext uri="{FF2B5EF4-FFF2-40B4-BE49-F238E27FC236}">
                <a16:creationId xmlns:a16="http://schemas.microsoft.com/office/drawing/2014/main" id="{0288D202-9D75-4875-A5C5-4C4F356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101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NT$500</a:t>
            </a:r>
          </a:p>
        </p:txBody>
      </p:sp>
      <p:sp>
        <p:nvSpPr>
          <p:cNvPr id="25" name="budget-buffer-panel">
            <a:extLst xmlns:a="http://schemas.openxmlformats.org/drawingml/2006/main">
              <a:ext uri="{FF2B5EF4-FFF2-40B4-BE49-F238E27FC236}">
                <a16:creationId xmlns:a16="http://schemas.microsoft.com/office/drawing/2014/main" id="{48B091C3-E0E5-416C-A6DE-FFDF630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43050"/>
            <a:ext cx="3657600" cy="20955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5360"/>
          </a:solidFill>
          <a:ln xmlns:a="http://schemas.openxmlformats.org/drawingml/2006/main" w="19050">
            <a:solidFill>
              <a:srgbClr val="5DDAB5">
                <a:alpha val="45000"/>
              </a:srgbClr>
            </a:solidFill>
            <a:prstDash val="solid"/>
          </a:ln>
        </p:spPr>
      </p:sp>
      <p:sp>
        <p:nvSpPr>
          <p:cNvPr id="26" name="budget-buffer-title">
            <a:extLst xmlns:a="http://schemas.openxmlformats.org/drawingml/2006/main">
              <a:ext uri="{FF2B5EF4-FFF2-40B4-BE49-F238E27FC236}">
                <a16:creationId xmlns:a16="http://schemas.microsoft.com/office/drawing/2014/main" id="{C60B64BB-3324-4FC0-8487-68F0B19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8EC4B"/>
                </a:solidFill>
              </a:defRPr>
            </a:pPr>
            <a:r>
              <a:rPr sz="1650" b="1" i="0">
                <a:solidFill>
                  <a:srgbClr val="B8EC4B"/>
                </a:solidFill>
              </a:rPr>
              <a:t>安全餘額</a:t>
            </a:r>
          </a:p>
        </p:txBody>
      </p:sp>
      <p:sp>
        <p:nvSpPr>
          <p:cNvPr id="27" name="budget-buffer-value">
            <a:extLst xmlns:a="http://schemas.openxmlformats.org/drawingml/2006/main">
              <a:ext uri="{FF2B5EF4-FFF2-40B4-BE49-F238E27FC236}">
                <a16:creationId xmlns:a16="http://schemas.microsoft.com/office/drawing/2014/main" id="{326129FE-7E3D-40E6-8D10-7E27031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NT$1,320</a:t>
            </a:r>
          </a:p>
        </p:txBody>
      </p:sp>
      <p:sp>
        <p:nvSpPr>
          <p:cNvPr id="28" name="budget-buffer-copy">
            <a:extLst xmlns:a="http://schemas.openxmlformats.org/drawingml/2006/main">
              <a:ext uri="{FF2B5EF4-FFF2-40B4-BE49-F238E27FC236}">
                <a16:creationId xmlns:a16="http://schemas.microsoft.com/office/drawing/2014/main" id="{C7143556-3DB6-4C27-9103-252D429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F8EE"/>
                </a:solidFill>
              </a:defRPr>
            </a:pPr>
            <a:r>
              <a:rPr sz="1275" b="0" i="0">
                <a:solidFill>
                  <a:srgbClr val="DDF8EE"/>
                </a:solidFill>
              </a:rPr>
              <a:t>留給房價浮動、油資或臨時想吃的那一口。</a:t>
            </a:r>
          </a:p>
        </p:txBody>
      </p:sp>
      <p:sp>
        <p:nvSpPr>
          <p:cNvPr id="29" name="budget-upgrade">
            <a:extLst xmlns:a="http://schemas.openxmlformats.org/drawingml/2006/main">
              <a:ext uri="{FF2B5EF4-FFF2-40B4-BE49-F238E27FC236}">
                <a16:creationId xmlns:a16="http://schemas.microsoft.com/office/drawing/2014/main" id="{2B34795D-8352-4EF3-8913-13F2068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想玩卡丁車？兩人各玩一次 NT$500 方案後，總額約 NT$9,680。</a:t>
            </a:r>
          </a:p>
        </p:txBody>
      </p:sp>
      <p:sp>
        <p:nvSpPr>
          <p:cNvPr id="30" name="budget-rule">
            <a:extLst xmlns:a="http://schemas.openxmlformats.org/drawingml/2006/main">
              <a:ext uri="{FF2B5EF4-FFF2-40B4-BE49-F238E27FC236}">
                <a16:creationId xmlns:a16="http://schemas.microsoft.com/office/drawing/2014/main" id="{675631DF-BB2F-4F9D-8282-FD84E1F2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65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udget-note">
            <a:extLst xmlns:a="http://schemas.openxmlformats.org/drawingml/2006/main">
              <a:ext uri="{FF2B5EF4-FFF2-40B4-BE49-F238E27FC236}">
                <a16:creationId xmlns:a16="http://schemas.microsoft.com/office/drawing/2014/main" id="{E476B27F-4EA0-48A6-ADAF-E31D65DA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00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DADD"/>
                </a:solidFill>
              </a:defRPr>
            </a:pPr>
            <a:r>
              <a:rPr sz="1275" b="0" i="0">
                <a:solidFill>
                  <a:srgbClr val="B9DADD"/>
                </a:solidFill>
              </a:rPr>
              <a:t>真正影響總額的三件事：租車、住宿、海鮮餐。</a:t>
            </a:r>
          </a:p>
        </p:txBody>
      </p:sp>
      <p:sp>
        <p:nvSpPr>
          <p:cNvPr id="3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4817BBD3-C573-48FA-9DC0-99F57D9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DC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EE1089A-8396-47E9-8614-8851A77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2F9F5"/>
                </a:solidFill>
              </a:defRPr>
            </a:pPr>
            <a:r>
              <a:rPr sz="975" b="1" i="0">
                <a:solidFill>
                  <a:srgbClr val="E2F9F5"/>
                </a:solidFill>
              </a:rPr>
              <a:t>主方案總計約 NT$8,680／2 人｜仍在 NT$10,000 上限內</a:t>
            </a:r>
          </a:p>
        </p:txBody>
      </p:sp>
      <p:sp>
        <p:nvSpPr>
          <p:cNvPr id="3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43C8D608-7C42-44E5-8390-E019E5E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ADCB4"/>
                </a:solidFill>
              </a:defRPr>
            </a:pPr>
            <a:r>
              <a:rPr sz="1200" b="1" i="0">
                <a:solidFill>
                  <a:srgbClr val="6ADCB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3822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37C7D882-50D8-4DDF-BC4E-F781357C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A"/>
                </a:solidFill>
              </a:defRPr>
            </a:pPr>
            <a:r>
              <a:rPr sz="2925" b="1" i="0">
                <a:solidFill>
                  <a:srgbClr val="063B4A"/>
                </a:solidFill>
              </a:rPr>
              <a:t>兩人要玩滿東港＋滿州，自駕最省時間</a:t>
            </a:r>
          </a:p>
        </p:txBody>
      </p:sp>
      <p:sp>
        <p:nvSpPr>
          <p:cNvPr id="2" name="transport-subtitle">
            <a:extLst xmlns:a="http://schemas.openxmlformats.org/drawingml/2006/main">
              <a:ext uri="{FF2B5EF4-FFF2-40B4-BE49-F238E27FC236}">
                <a16:creationId xmlns:a16="http://schemas.microsoft.com/office/drawing/2014/main" id="{A734493C-0D5F-4569-81FF-067CC5E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景點分散、滿州支線班次少；把轉乘時間還給海岸線。</a:t>
            </a:r>
          </a:p>
        </p:txBody>
      </p:sp>
      <p:sp>
        <p:nvSpPr>
          <p:cNvPr id="3" name="transport-route-kicker">
            <a:extLst xmlns:a="http://schemas.openxmlformats.org/drawingml/2006/main">
              <a:ext uri="{FF2B5EF4-FFF2-40B4-BE49-F238E27FC236}">
                <a16:creationId xmlns:a16="http://schemas.microsoft.com/office/drawing/2014/main" id="{C34F82D7-D26B-402A-B777-3DBDA2A7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B878"/>
                </a:solidFill>
              </a:defRPr>
            </a:pPr>
            <a:r>
              <a:rPr sz="1350" b="1" i="0">
                <a:solidFill>
                  <a:srgbClr val="1FB878"/>
                </a:solidFill>
              </a:rPr>
              <a:t>主推薦路線</a:t>
            </a:r>
          </a:p>
        </p:txBody>
      </p:sp>
      <p:sp>
        <p:nvSpPr>
          <p:cNvPr id="4" name="transport-route-line">
            <a:extLst xmlns:a="http://schemas.openxmlformats.org/drawingml/2006/main">
              <a:ext uri="{FF2B5EF4-FFF2-40B4-BE49-F238E27FC236}">
                <a16:creationId xmlns:a16="http://schemas.microsoft.com/office/drawing/2014/main" id="{3B1EF2D1-8D77-4A4E-9DFF-2373811C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85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ansport-stop-0">
            <a:extLst xmlns:a="http://schemas.openxmlformats.org/drawingml/2006/main">
              <a:ext uri="{FF2B5EF4-FFF2-40B4-BE49-F238E27FC236}">
                <a16:creationId xmlns:a16="http://schemas.microsoft.com/office/drawing/2014/main" id="{5C225202-B379-4AF1-8B54-6EF26FC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nsport-stop-0-number">
            <a:extLst xmlns:a="http://schemas.openxmlformats.org/drawingml/2006/main">
              <a:ext uri="{FF2B5EF4-FFF2-40B4-BE49-F238E27FC236}">
                <a16:creationId xmlns:a16="http://schemas.microsoft.com/office/drawing/2014/main" id="{BE9C233C-F6D5-4769-B3F0-DC94E0F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ransport-stop-0-time">
            <a:extLst xmlns:a="http://schemas.openxmlformats.org/drawingml/2006/main">
              <a:ext uri="{FF2B5EF4-FFF2-40B4-BE49-F238E27FC236}">
                <a16:creationId xmlns:a16="http://schemas.microsoft.com/office/drawing/2014/main" id="{42FF6523-5977-476E-AA48-7C6BA5D9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07:30</a:t>
            </a:r>
          </a:p>
        </p:txBody>
      </p:sp>
      <p:sp>
        <p:nvSpPr>
          <p:cNvPr id="8" name="transport-stop-0-label">
            <a:extLst xmlns:a="http://schemas.openxmlformats.org/drawingml/2006/main">
              <a:ext uri="{FF2B5EF4-FFF2-40B4-BE49-F238E27FC236}">
                <a16:creationId xmlns:a16="http://schemas.microsoft.com/office/drawing/2014/main" id="{C7ABB5A1-30CB-4FDD-BBE2-6B00D6E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高雄</a:t>
            </a:r>
          </a:p>
        </p:txBody>
      </p:sp>
      <p:sp>
        <p:nvSpPr>
          <p:cNvPr id="9" name="transport-stop-1">
            <a:extLst xmlns:a="http://schemas.openxmlformats.org/drawingml/2006/main">
              <a:ext uri="{FF2B5EF4-FFF2-40B4-BE49-F238E27FC236}">
                <a16:creationId xmlns:a16="http://schemas.microsoft.com/office/drawing/2014/main" id="{09A40CDD-AF2D-4C8E-80F7-B3F35E2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ansport-stop-1-number">
            <a:extLst xmlns:a="http://schemas.openxmlformats.org/drawingml/2006/main">
              <a:ext uri="{FF2B5EF4-FFF2-40B4-BE49-F238E27FC236}">
                <a16:creationId xmlns:a16="http://schemas.microsoft.com/office/drawing/2014/main" id="{A09C27E5-9022-4452-8E46-69F23CAF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ransport-stop-1-time">
            <a:extLst xmlns:a="http://schemas.openxmlformats.org/drawingml/2006/main">
              <a:ext uri="{FF2B5EF4-FFF2-40B4-BE49-F238E27FC236}">
                <a16:creationId xmlns:a16="http://schemas.microsoft.com/office/drawing/2014/main" id="{0AC4E732-AB52-45AB-82BA-D8F682EB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09:00</a:t>
            </a:r>
          </a:p>
        </p:txBody>
      </p:sp>
      <p:sp>
        <p:nvSpPr>
          <p:cNvPr id="12" name="transport-stop-1-label">
            <a:extLst xmlns:a="http://schemas.openxmlformats.org/drawingml/2006/main">
              <a:ext uri="{FF2B5EF4-FFF2-40B4-BE49-F238E27FC236}">
                <a16:creationId xmlns:a16="http://schemas.microsoft.com/office/drawing/2014/main" id="{B5D21579-22B1-470C-BD6E-C30B675E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東港</a:t>
            </a:r>
          </a:p>
        </p:txBody>
      </p:sp>
      <p:sp>
        <p:nvSpPr>
          <p:cNvPr id="13" name="transport-stop-2">
            <a:extLst xmlns:a="http://schemas.openxmlformats.org/drawingml/2006/main">
              <a:ext uri="{FF2B5EF4-FFF2-40B4-BE49-F238E27FC236}">
                <a16:creationId xmlns:a16="http://schemas.microsoft.com/office/drawing/2014/main" id="{90C50A97-D7BC-44DF-98E5-93724AA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nsport-stop-2-number">
            <a:extLst xmlns:a="http://schemas.openxmlformats.org/drawingml/2006/main">
              <a:ext uri="{FF2B5EF4-FFF2-40B4-BE49-F238E27FC236}">
                <a16:creationId xmlns:a16="http://schemas.microsoft.com/office/drawing/2014/main" id="{1B87B1AB-FC4E-4B34-8F68-0728B60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ransport-stop-2-time">
            <a:extLst xmlns:a="http://schemas.openxmlformats.org/drawingml/2006/main">
              <a:ext uri="{FF2B5EF4-FFF2-40B4-BE49-F238E27FC236}">
                <a16:creationId xmlns:a16="http://schemas.microsoft.com/office/drawing/2014/main" id="{FAB026BF-EEBE-45E8-909F-E4C117F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13:45</a:t>
            </a:r>
          </a:p>
        </p:txBody>
      </p:sp>
      <p:sp>
        <p:nvSpPr>
          <p:cNvPr id="16" name="transport-stop-2-label">
            <a:extLst xmlns:a="http://schemas.openxmlformats.org/drawingml/2006/main">
              <a:ext uri="{FF2B5EF4-FFF2-40B4-BE49-F238E27FC236}">
                <a16:creationId xmlns:a16="http://schemas.microsoft.com/office/drawing/2014/main" id="{25CFF7E4-E80F-4B34-9A88-BFC87659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佳樂水</a:t>
            </a:r>
          </a:p>
        </p:txBody>
      </p:sp>
      <p:sp>
        <p:nvSpPr>
          <p:cNvPr id="17" name="transport-stop-3">
            <a:extLst xmlns:a="http://schemas.openxmlformats.org/drawingml/2006/main">
              <a:ext uri="{FF2B5EF4-FFF2-40B4-BE49-F238E27FC236}">
                <a16:creationId xmlns:a16="http://schemas.microsoft.com/office/drawing/2014/main" id="{33DC026A-AE1F-4511-86EE-4FCA7B31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ansport-stop-3-number">
            <a:extLst xmlns:a="http://schemas.openxmlformats.org/drawingml/2006/main">
              <a:ext uri="{FF2B5EF4-FFF2-40B4-BE49-F238E27FC236}">
                <a16:creationId xmlns:a16="http://schemas.microsoft.com/office/drawing/2014/main" id="{9898794A-3922-4172-BD71-093CD67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ransport-stop-3-time">
            <a:extLst xmlns:a="http://schemas.openxmlformats.org/drawingml/2006/main">
              <a:ext uri="{FF2B5EF4-FFF2-40B4-BE49-F238E27FC236}">
                <a16:creationId xmlns:a16="http://schemas.microsoft.com/office/drawing/2014/main" id="{5B20D216-FBC5-4B31-9C6D-1F22E6D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FC9"/>
                </a:solidFill>
              </a:defRPr>
            </a:pPr>
            <a:r>
              <a:rPr sz="1200" b="1" i="0">
                <a:solidFill>
                  <a:srgbClr val="087FC9"/>
                </a:solidFill>
              </a:rPr>
              <a:t>19:00</a:t>
            </a:r>
          </a:p>
        </p:txBody>
      </p:sp>
      <p:sp>
        <p:nvSpPr>
          <p:cNvPr id="20" name="transport-stop-3-label">
            <a:extLst xmlns:a="http://schemas.openxmlformats.org/drawingml/2006/main">
              <a:ext uri="{FF2B5EF4-FFF2-40B4-BE49-F238E27FC236}">
                <a16:creationId xmlns:a16="http://schemas.microsoft.com/office/drawing/2014/main" id="{6C660986-9E48-4FA3-A7BB-36B084B9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3B4A"/>
                </a:solidFill>
              </a:defRPr>
            </a:pPr>
            <a:r>
              <a:rPr sz="1350" b="1" i="0">
                <a:solidFill>
                  <a:srgbClr val="063B4A"/>
                </a:solidFill>
              </a:rPr>
              <a:t>高雄</a:t>
            </a:r>
          </a:p>
        </p:txBody>
      </p:sp>
      <p:sp>
        <p:nvSpPr>
          <p:cNvPr id="21" name="transport-recommendation">
            <a:extLst xmlns:a="http://schemas.openxmlformats.org/drawingml/2006/main">
              <a:ext uri="{FF2B5EF4-FFF2-40B4-BE49-F238E27FC236}">
                <a16:creationId xmlns:a16="http://schemas.microsoft.com/office/drawing/2014/main" id="{F6974E43-A6DA-4AE5-A095-E91762D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3B4A"/>
                </a:solidFill>
              </a:defRPr>
            </a:pPr>
            <a:r>
              <a:rPr sz="1725" b="1" i="0">
                <a:solidFill>
                  <a:srgbClr val="063B4A"/>
                </a:solidFill>
              </a:rPr>
              <a:t>小型車兩日基礎約 NT$2,100–2,800</a:t>
            </a:r>
          </a:p>
          <a:p xmlns:a="http://schemas.openxmlformats.org/drawingml/2006/main">
            <a:pPr algn="l">
              <a:defRPr sz="1725" b="1" i="0">
                <a:solidFill>
                  <a:srgbClr val="063B4A"/>
                </a:solidFill>
              </a:defRPr>
            </a:pPr>
            <a:r>
              <a:rPr sz="1725" b="1" i="0">
                <a:solidFill>
                  <a:srgbClr val="063B4A"/>
                </a:solidFill>
              </a:rPr>
              <a:t>可一次串起社頂、鵝鑾鼻、龍磐、風吹砂、佳樂水。</a:t>
            </a:r>
          </a:p>
        </p:txBody>
      </p:sp>
      <p:sp>
        <p:nvSpPr>
          <p:cNvPr id="22" name="transport-selfdrive-panel">
            <a:extLst xmlns:a="http://schemas.openxmlformats.org/drawingml/2006/main">
              <a:ext uri="{FF2B5EF4-FFF2-40B4-BE49-F238E27FC236}">
                <a16:creationId xmlns:a16="http://schemas.microsoft.com/office/drawing/2014/main" id="{09225D90-FC76-4D2B-8C9B-D5B8566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3962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8FF"/>
          </a:solidFill>
          <a:ln xmlns:a="http://schemas.openxmlformats.org/drawingml/2006/main" w="19050">
            <a:solidFill>
              <a:srgbClr val="74D7F0"/>
            </a:solidFill>
            <a:prstDash val="solid"/>
          </a:ln>
        </p:spPr>
      </p:sp>
      <p:sp>
        <p:nvSpPr>
          <p:cNvPr id="23" name="transport-recommend-pill">
            <a:extLst xmlns:a="http://schemas.openxmlformats.org/drawingml/2006/main">
              <a:ext uri="{FF2B5EF4-FFF2-40B4-BE49-F238E27FC236}">
                <a16:creationId xmlns:a16="http://schemas.microsoft.com/office/drawing/2014/main" id="{A33931D7-6EEC-40FE-900F-5CE8FC7D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85950"/>
            <a:ext cx="933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主推薦</a:t>
            </a:r>
          </a:p>
        </p:txBody>
      </p:sp>
      <p:sp>
        <p:nvSpPr>
          <p:cNvPr id="24" name="transport-selfdrive-title">
            <a:extLst xmlns:a="http://schemas.openxmlformats.org/drawingml/2006/main">
              <a:ext uri="{FF2B5EF4-FFF2-40B4-BE49-F238E27FC236}">
                <a16:creationId xmlns:a16="http://schemas.microsoft.com/office/drawing/2014/main" id="{6712C09C-C663-4815-B849-3F4C9A77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63B4A"/>
                </a:solidFill>
              </a:defRPr>
            </a:pPr>
            <a:r>
              <a:rPr sz="2100" b="1" i="0">
                <a:solidFill>
                  <a:srgbClr val="063B4A"/>
                </a:solidFill>
              </a:rPr>
              <a:t>租汽車</a:t>
            </a:r>
          </a:p>
        </p:txBody>
      </p:sp>
      <p:sp>
        <p:nvSpPr>
          <p:cNvPr id="25" name="transport-selfdrive-copy">
            <a:extLst xmlns:a="http://schemas.openxmlformats.org/drawingml/2006/main">
              <a:ext uri="{FF2B5EF4-FFF2-40B4-BE49-F238E27FC236}">
                <a16:creationId xmlns:a16="http://schemas.microsoft.com/office/drawing/2014/main" id="{45242BA4-13CE-41F6-AE40-2FA97AB7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FC9"/>
                </a:solidFill>
              </a:defRPr>
            </a:pPr>
            <a:r>
              <a:rPr sz="1350" b="1" i="0">
                <a:solidFill>
                  <a:srgbClr val="087FC9"/>
                </a:solidFill>
              </a:rPr>
              <a:t>景點全收｜時間效率最高</a:t>
            </a:r>
          </a:p>
        </p:txBody>
      </p:sp>
      <p:sp>
        <p:nvSpPr>
          <p:cNvPr id="26" name="transport-bus-panel">
            <a:extLst xmlns:a="http://schemas.openxmlformats.org/drawingml/2006/main">
              <a:ext uri="{FF2B5EF4-FFF2-40B4-BE49-F238E27FC236}">
                <a16:creationId xmlns:a16="http://schemas.microsoft.com/office/drawing/2014/main" id="{A99B597A-9F30-4DDC-8082-29A8A0E9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39624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9525">
            <a:solidFill>
              <a:srgbClr val="A9DCC7"/>
            </a:solidFill>
            <a:prstDash val="solid"/>
          </a:ln>
        </p:spPr>
      </p:sp>
      <p:sp>
        <p:nvSpPr>
          <p:cNvPr id="27" name="transport-bus-title">
            <a:extLst xmlns:a="http://schemas.openxmlformats.org/drawingml/2006/main">
              <a:ext uri="{FF2B5EF4-FFF2-40B4-BE49-F238E27FC236}">
                <a16:creationId xmlns:a16="http://schemas.microsoft.com/office/drawing/2014/main" id="{3275C0E6-2BF2-4B40-86A8-11624C7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D9566"/>
                </a:solidFill>
              </a:defRPr>
            </a:pPr>
            <a:r>
              <a:rPr sz="1650" b="1" i="0">
                <a:solidFill>
                  <a:srgbClr val="0D9566"/>
                </a:solidFill>
              </a:rPr>
              <a:t>客運｜約 NT$1,500–2,100</a:t>
            </a:r>
          </a:p>
        </p:txBody>
      </p:sp>
      <p:sp>
        <p:nvSpPr>
          <p:cNvPr id="28" name="transport-bus-copy">
            <a:extLst xmlns:a="http://schemas.openxmlformats.org/drawingml/2006/main">
              <a:ext uri="{FF2B5EF4-FFF2-40B4-BE49-F238E27FC236}">
                <a16:creationId xmlns:a16="http://schemas.microsoft.com/office/drawing/2014/main" id="{EABFF97C-3434-489D-B9D2-277674B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最省，但 103／304 班次少，滿州端要取捨景點。</a:t>
            </a:r>
          </a:p>
        </p:txBody>
      </p:sp>
      <p:sp>
        <p:nvSpPr>
          <p:cNvPr id="29" name="transport-charter-note">
            <a:extLst xmlns:a="http://schemas.openxmlformats.org/drawingml/2006/main">
              <a:ext uri="{FF2B5EF4-FFF2-40B4-BE49-F238E27FC236}">
                <a16:creationId xmlns:a16="http://schemas.microsoft.com/office/drawing/2014/main" id="{3E90B0E9-D982-444A-B898-949A4EC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717A"/>
                </a:solidFill>
              </a:defRPr>
            </a:pPr>
            <a:r>
              <a:rPr sz="1275" b="0" i="1">
                <a:solidFill>
                  <a:srgbClr val="55717A"/>
                </a:solidFill>
              </a:rPr>
              <a:t>包車最舒服，但 2 人成本容易逼近或超過上限。</a:t>
            </a:r>
          </a:p>
        </p:txBody>
      </p:sp>
      <p:sp>
        <p:nvSpPr>
          <p:cNvPr id="30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1C79B95-339D-40C6-9D3F-F18ECFC5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F862C2CB-5187-48CD-BDBF-05D08AE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交通選擇｜客運最低價、自駕最高效、包車最舒服但成本不合</a:t>
            </a:r>
          </a:p>
        </p:txBody>
      </p:sp>
      <p:sp>
        <p:nvSpPr>
          <p:cNvPr id="32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1E4C0D0-E4C2-4C6B-8757-A00ED4B9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3661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tyle-title">
            <a:extLst xmlns:a="http://schemas.openxmlformats.org/drawingml/2006/main">
              <a:ext uri="{FF2B5EF4-FFF2-40B4-BE49-F238E27FC236}">
                <a16:creationId xmlns:a16="http://schemas.microsoft.com/office/drawing/2014/main" id="{43B90BF6-58BC-462E-AE20-67BB074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63B4A"/>
                </a:solidFill>
              </a:defRPr>
            </a:pPr>
            <a:r>
              <a:rPr sz="2925" b="1" i="0">
                <a:solidFill>
                  <a:srgbClr val="063B4A"/>
                </a:solidFill>
              </a:rPr>
              <a:t>想把旅程調成你的節奏，也都在預算內</a:t>
            </a:r>
          </a:p>
        </p:txBody>
      </p:sp>
      <p:sp>
        <p:nvSpPr>
          <p:cNvPr id="2" name="style-subtitle">
            <a:extLst xmlns:a="http://schemas.openxmlformats.org/drawingml/2006/main">
              <a:ext uri="{FF2B5EF4-FFF2-40B4-BE49-F238E27FC236}">
                <a16:creationId xmlns:a16="http://schemas.microsoft.com/office/drawing/2014/main" id="{52D52516-1947-497F-8740-AC0ECF66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717A"/>
                </a:solidFill>
              </a:defRPr>
            </a:pPr>
            <a:r>
              <a:rPr sz="1500" b="0" i="0">
                <a:solidFill>
                  <a:srgbClr val="55717A"/>
                </a:solidFill>
              </a:rPr>
              <a:t>同一條海岸線，換一種走法，就能換一種旅行表情。</a:t>
            </a:r>
          </a:p>
        </p:txBody>
      </p:sp>
      <p:sp>
        <p:nvSpPr>
          <p:cNvPr id="3" name="style-0-rule">
            <a:extLst xmlns:a="http://schemas.openxmlformats.org/drawingml/2006/main">
              <a:ext uri="{FF2B5EF4-FFF2-40B4-BE49-F238E27FC236}">
                <a16:creationId xmlns:a16="http://schemas.microsoft.com/office/drawing/2014/main" id="{8133C360-AE8C-48FF-B399-41A6A88C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yle-0-no">
            <a:extLst xmlns:a="http://schemas.openxmlformats.org/drawingml/2006/main">
              <a:ext uri="{FF2B5EF4-FFF2-40B4-BE49-F238E27FC236}">
                <a16:creationId xmlns:a16="http://schemas.microsoft.com/office/drawing/2014/main" id="{7230DA27-4C58-4C2B-BD2A-3348473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6C5F"/>
                </a:solidFill>
              </a:defRPr>
            </a:pPr>
            <a:r>
              <a:rPr sz="1950" b="1" i="0">
                <a:solidFill>
                  <a:srgbClr val="F46C5F"/>
                </a:solidFill>
              </a:rPr>
              <a:t>01</a:t>
            </a:r>
          </a:p>
        </p:txBody>
      </p:sp>
      <p:sp>
        <p:nvSpPr>
          <p:cNvPr id="5" name="style-0-title">
            <a:extLst xmlns:a="http://schemas.openxmlformats.org/drawingml/2006/main">
              <a:ext uri="{FF2B5EF4-FFF2-40B4-BE49-F238E27FC236}">
                <a16:creationId xmlns:a16="http://schemas.microsoft.com/office/drawing/2014/main" id="{CE87A1E9-F87D-46BE-864E-2AB283CD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3B4A"/>
                </a:solidFill>
              </a:defRPr>
            </a:pPr>
            <a:r>
              <a:rPr sz="1875" b="1" i="0">
                <a:solidFill>
                  <a:srgbClr val="063B4A"/>
                </a:solidFill>
              </a:rPr>
              <a:t>悠閒美食版</a:t>
            </a:r>
          </a:p>
        </p:txBody>
      </p:sp>
      <p:sp>
        <p:nvSpPr>
          <p:cNvPr id="6" name="style-0-detail">
            <a:extLst xmlns:a="http://schemas.openxmlformats.org/drawingml/2006/main">
              <a:ext uri="{FF2B5EF4-FFF2-40B4-BE49-F238E27FC236}">
                <a16:creationId xmlns:a16="http://schemas.microsoft.com/office/drawing/2014/main" id="{468EB63F-0DBA-4987-82A6-CA5E4314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90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東港文化＋海鮮；Day 2 精簡為滿州海岸</a:t>
            </a:r>
          </a:p>
        </p:txBody>
      </p:sp>
      <p:sp>
        <p:nvSpPr>
          <p:cNvPr id="7" name="style-0-cost">
            <a:extLst xmlns:a="http://schemas.openxmlformats.org/drawingml/2006/main">
              <a:ext uri="{FF2B5EF4-FFF2-40B4-BE49-F238E27FC236}">
                <a16:creationId xmlns:a16="http://schemas.microsoft.com/office/drawing/2014/main" id="{F0385BAF-1471-4A1C-98F9-57CB8CB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764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46C5F"/>
                </a:solidFill>
              </a:defRPr>
            </a:pPr>
            <a:r>
              <a:rPr sz="1500" b="1" i="0">
                <a:solidFill>
                  <a:srgbClr val="F46C5F"/>
                </a:solidFill>
              </a:rPr>
              <a:t>約 NT$8,300–9,000</a:t>
            </a:r>
          </a:p>
        </p:txBody>
      </p:sp>
      <p:sp>
        <p:nvSpPr>
          <p:cNvPr id="8" name="style-1-rule">
            <a:extLst xmlns:a="http://schemas.openxmlformats.org/drawingml/2006/main">
              <a:ext uri="{FF2B5EF4-FFF2-40B4-BE49-F238E27FC236}">
                <a16:creationId xmlns:a16="http://schemas.microsoft.com/office/drawing/2014/main" id="{D9BE8D01-4663-410C-8139-34E68E2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yle-1-no">
            <a:extLst xmlns:a="http://schemas.openxmlformats.org/drawingml/2006/main">
              <a:ext uri="{FF2B5EF4-FFF2-40B4-BE49-F238E27FC236}">
                <a16:creationId xmlns:a16="http://schemas.microsoft.com/office/drawing/2014/main" id="{B9B7FB49-A194-497C-9CC9-2FE4D35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FB878"/>
                </a:solidFill>
              </a:defRPr>
            </a:pPr>
            <a:r>
              <a:rPr sz="1950" b="1" i="0">
                <a:solidFill>
                  <a:srgbClr val="1FB878"/>
                </a:solidFill>
              </a:rPr>
              <a:t>02</a:t>
            </a:r>
          </a:p>
        </p:txBody>
      </p:sp>
      <p:sp>
        <p:nvSpPr>
          <p:cNvPr id="10" name="style-1-title">
            <a:extLst xmlns:a="http://schemas.openxmlformats.org/drawingml/2006/main">
              <a:ext uri="{FF2B5EF4-FFF2-40B4-BE49-F238E27FC236}">
                <a16:creationId xmlns:a16="http://schemas.microsoft.com/office/drawing/2014/main" id="{574B34C4-67A2-4A67-826E-EA120AD0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3B4A"/>
                </a:solidFill>
              </a:defRPr>
            </a:pPr>
            <a:r>
              <a:rPr sz="1875" b="1" i="0">
                <a:solidFill>
                  <a:srgbClr val="063B4A"/>
                </a:solidFill>
              </a:rPr>
              <a:t>自然健行版</a:t>
            </a:r>
          </a:p>
        </p:txBody>
      </p:sp>
      <p:sp>
        <p:nvSpPr>
          <p:cNvPr id="11" name="style-1-detail">
            <a:extLst xmlns:a="http://schemas.openxmlformats.org/drawingml/2006/main">
              <a:ext uri="{FF2B5EF4-FFF2-40B4-BE49-F238E27FC236}">
                <a16:creationId xmlns:a16="http://schemas.microsoft.com/office/drawing/2014/main" id="{A3A761F5-F495-402D-B4DB-EA17DCB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社頂＋龍磐＋風吹砂＋佳樂水，走得更深</a:t>
            </a:r>
          </a:p>
        </p:txBody>
      </p:sp>
      <p:sp>
        <p:nvSpPr>
          <p:cNvPr id="12" name="style-1-cost">
            <a:extLst xmlns:a="http://schemas.openxmlformats.org/drawingml/2006/main">
              <a:ext uri="{FF2B5EF4-FFF2-40B4-BE49-F238E27FC236}">
                <a16:creationId xmlns:a16="http://schemas.microsoft.com/office/drawing/2014/main" id="{9D83B63F-82E8-4896-8E57-D87D4A3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FB878"/>
                </a:solidFill>
              </a:defRPr>
            </a:pPr>
            <a:r>
              <a:rPr sz="1500" b="1" i="0">
                <a:solidFill>
                  <a:srgbClr val="1FB878"/>
                </a:solidFill>
              </a:rPr>
              <a:t>約 NT$8,400–9,000</a:t>
            </a:r>
          </a:p>
        </p:txBody>
      </p:sp>
      <p:sp>
        <p:nvSpPr>
          <p:cNvPr id="13" name="style-2-rule">
            <a:extLst xmlns:a="http://schemas.openxmlformats.org/drawingml/2006/main">
              <a:ext uri="{FF2B5EF4-FFF2-40B4-BE49-F238E27FC236}">
                <a16:creationId xmlns:a16="http://schemas.microsoft.com/office/drawing/2014/main" id="{F7091E48-D8BD-4B41-B074-BC32E80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yle-2-no">
            <a:extLst xmlns:a="http://schemas.openxmlformats.org/drawingml/2006/main">
              <a:ext uri="{FF2B5EF4-FFF2-40B4-BE49-F238E27FC236}">
                <a16:creationId xmlns:a16="http://schemas.microsoft.com/office/drawing/2014/main" id="{A466FBDD-39D7-4930-9392-555DC11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87FC9"/>
                </a:solidFill>
              </a:defRPr>
            </a:pPr>
            <a:r>
              <a:rPr sz="1950" b="1" i="0">
                <a:solidFill>
                  <a:srgbClr val="087FC9"/>
                </a:solidFill>
              </a:rPr>
              <a:t>03</a:t>
            </a:r>
          </a:p>
        </p:txBody>
      </p:sp>
      <p:sp>
        <p:nvSpPr>
          <p:cNvPr id="15" name="style-2-title">
            <a:extLst xmlns:a="http://schemas.openxmlformats.org/drawingml/2006/main">
              <a:ext uri="{FF2B5EF4-FFF2-40B4-BE49-F238E27FC236}">
                <a16:creationId xmlns:a16="http://schemas.microsoft.com/office/drawing/2014/main" id="{2EFCD904-453A-4A0C-A401-CF5CC50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3B4A"/>
                </a:solidFill>
              </a:defRPr>
            </a:pPr>
            <a:r>
              <a:rPr sz="1875" b="1" i="0">
                <a:solidFill>
                  <a:srgbClr val="063B4A"/>
                </a:solidFill>
              </a:rPr>
              <a:t>攝影密集版</a:t>
            </a:r>
          </a:p>
        </p:txBody>
      </p:sp>
      <p:sp>
        <p:nvSpPr>
          <p:cNvPr id="16" name="style-2-detail">
            <a:extLst xmlns:a="http://schemas.openxmlformats.org/drawingml/2006/main">
              <a:ext uri="{FF2B5EF4-FFF2-40B4-BE49-F238E27FC236}">
                <a16:creationId xmlns:a16="http://schemas.microsoft.com/office/drawing/2014/main" id="{47DF5EFE-57B5-47AC-B4B3-ABC5D2AC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717A"/>
                </a:solidFill>
              </a:defRPr>
            </a:pPr>
            <a:r>
              <a:rPr sz="1275" b="0" i="0">
                <a:solidFill>
                  <a:srgbClr val="55717A"/>
                </a:solidFill>
              </a:rPr>
              <a:t>05:00–05:30 出發，追東岸晨光與海岸線</a:t>
            </a:r>
          </a:p>
        </p:txBody>
      </p:sp>
      <p:sp>
        <p:nvSpPr>
          <p:cNvPr id="17" name="style-2-cost">
            <a:extLst xmlns:a="http://schemas.openxmlformats.org/drawingml/2006/main">
              <a:ext uri="{FF2B5EF4-FFF2-40B4-BE49-F238E27FC236}">
                <a16:creationId xmlns:a16="http://schemas.microsoft.com/office/drawing/2014/main" id="{4BC31378-A5E3-4000-8B03-572FC18C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087FC9"/>
                </a:solidFill>
              </a:defRPr>
            </a:pPr>
            <a:r>
              <a:rPr sz="1500" b="1" i="0">
                <a:solidFill>
                  <a:srgbClr val="087FC9"/>
                </a:solidFill>
              </a:rPr>
              <a:t>取景最好，也最考驗體力</a:t>
            </a:r>
          </a:p>
        </p:txBody>
      </p:sp>
      <p:sp>
        <p:nvSpPr>
          <p:cNvPr id="18" name="style-upgrade-panel">
            <a:extLst xmlns:a="http://schemas.openxmlformats.org/drawingml/2006/main">
              <a:ext uri="{FF2B5EF4-FFF2-40B4-BE49-F238E27FC236}">
                <a16:creationId xmlns:a16="http://schemas.microsoft.com/office/drawing/2014/main" id="{8F932140-F74C-4BC6-9470-6EAC47E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3143250" cy="2971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3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yle-upgrade-pill">
            <a:extLst xmlns:a="http://schemas.openxmlformats.org/drawingml/2006/main">
              <a:ext uri="{FF2B5EF4-FFF2-40B4-BE49-F238E27FC236}">
                <a16:creationId xmlns:a16="http://schemas.microsoft.com/office/drawing/2014/main" id="{C5DD6AF2-F71B-48F3-929A-106A21E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2C3A"/>
                </a:solidFill>
              </a:defRPr>
            </a:pPr>
            <a:r>
              <a:rPr sz="1125" b="1" i="0">
                <a:solidFill>
                  <a:srgbClr val="052C3A"/>
                </a:solidFill>
              </a:rPr>
              <a:t>可選升級</a:t>
            </a:r>
          </a:p>
        </p:txBody>
      </p:sp>
      <p:sp>
        <p:nvSpPr>
          <p:cNvPr id="20" name="style-upgrade-title">
            <a:extLst xmlns:a="http://schemas.openxmlformats.org/drawingml/2006/main">
              <a:ext uri="{FF2B5EF4-FFF2-40B4-BE49-F238E27FC236}">
                <a16:creationId xmlns:a16="http://schemas.microsoft.com/office/drawing/2014/main" id="{B7DA8249-EAE3-43EA-B2B5-6EB6D7B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大鵬灣</a:t>
            </a:r>
          </a:p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卡丁車</a:t>
            </a:r>
          </a:p>
        </p:txBody>
      </p:sp>
      <p:sp>
        <p:nvSpPr>
          <p:cNvPr id="21" name="style-upgrade-price">
            <a:extLst xmlns:a="http://schemas.openxmlformats.org/drawingml/2006/main">
              <a:ext uri="{FF2B5EF4-FFF2-40B4-BE49-F238E27FC236}">
                <a16:creationId xmlns:a16="http://schemas.microsoft.com/office/drawing/2014/main" id="{F3C4C730-BFC0-4C55-AC67-B1920CDA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8EC4B"/>
                </a:solidFill>
              </a:defRPr>
            </a:pPr>
            <a:r>
              <a:rPr sz="1800" b="1" i="0">
                <a:solidFill>
                  <a:srgbClr val="B8EC4B"/>
                </a:solidFill>
              </a:rPr>
              <a:t>+NT$1,000／2 人</a:t>
            </a:r>
          </a:p>
        </p:txBody>
      </p:sp>
      <p:sp>
        <p:nvSpPr>
          <p:cNvPr id="22" name="style-upgrade-copy">
            <a:extLst xmlns:a="http://schemas.openxmlformats.org/drawingml/2006/main">
              <a:ext uri="{FF2B5EF4-FFF2-40B4-BE49-F238E27FC236}">
                <a16:creationId xmlns:a16="http://schemas.microsoft.com/office/drawing/2014/main" id="{14A74DAB-549B-4E85-B2C5-35BA16FF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F8EE"/>
                </a:solidFill>
              </a:defRPr>
            </a:pPr>
            <a:r>
              <a:rPr sz="1200" b="0" i="0">
                <a:solidFill>
                  <a:srgbClr val="DDF8EE"/>
                </a:solidFill>
              </a:rPr>
              <a:t>各玩一次一般單人座，主方案仍約 NT$9,680。</a:t>
            </a:r>
          </a:p>
        </p:txBody>
      </p:sp>
      <p:sp>
        <p:nvSpPr>
          <p:cNvPr id="23" name="style-warning">
            <a:extLst xmlns:a="http://schemas.openxmlformats.org/drawingml/2006/main">
              <a:ext uri="{FF2B5EF4-FFF2-40B4-BE49-F238E27FC236}">
                <a16:creationId xmlns:a16="http://schemas.microsoft.com/office/drawing/2014/main" id="{F18DB8FE-50B8-41B3-B17C-29CCBA38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717A"/>
                </a:solidFill>
              </a:defRPr>
            </a:pPr>
            <a:r>
              <a:rPr sz="1275" b="0" i="1">
                <a:solidFill>
                  <a:srgbClr val="55717A"/>
                </a:solidFill>
              </a:rPr>
              <a:t>小琉球適合另開一趟，不建議硬塞進本案。</a:t>
            </a:r>
          </a:p>
        </p:txBody>
      </p:sp>
      <p:sp>
        <p:nvSpPr>
          <p:cNvPr id="2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22DA689-F694-4905-AC31-66564AE9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8C366029-E106-4B81-A163-9696E2C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717A"/>
                </a:solidFill>
              </a:defRPr>
            </a:pPr>
            <a:r>
              <a:rPr sz="975" b="1" i="0">
                <a:solidFill>
                  <a:srgbClr val="55717A"/>
                </a:solidFill>
              </a:rPr>
              <a:t>三種玩法｜依體力、食慾與拍攝慾望，把同一趟旅行調成自己的版本</a:t>
            </a:r>
          </a:p>
        </p:txBody>
      </p:sp>
      <p:sp>
        <p:nvSpPr>
          <p:cNvPr id="2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B7A5D736-6B23-4417-AEF1-B56205A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FB878"/>
                </a:solidFill>
              </a:defRPr>
            </a:pPr>
            <a:r>
              <a:rPr sz="1200" b="1" i="0">
                <a:solidFill>
                  <a:srgbClr val="1FB87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2640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78ea1ef7a4b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e-overlay">
            <a:extLst xmlns:a="http://schemas.openxmlformats.org/drawingml/2006/main">
              <a:ext uri="{FF2B5EF4-FFF2-40B4-BE49-F238E27FC236}">
                <a16:creationId xmlns:a16="http://schemas.microsoft.com/office/drawing/2014/main" id="{1DFBF342-7FEC-4C72-AADF-3D5B337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C3A">
              <a:alpha val="5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bottom-overlay">
            <a:extLst xmlns:a="http://schemas.openxmlformats.org/drawingml/2006/main">
              <a:ext uri="{FF2B5EF4-FFF2-40B4-BE49-F238E27FC236}">
                <a16:creationId xmlns:a16="http://schemas.microsoft.com/office/drawing/2014/main" id="{6995ABF9-164D-482C-B3BF-75C080D9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2C3A">
                  <a:alpha val="90000"/>
                </a:srgbClr>
              </a:gs>
              <a:gs pos="100000">
                <a:srgbClr val="052C3A">
                  <a:alpha val="35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97695B3E-1424-4FD8-B18E-FCD096B9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5F95653-C7D7-48D0-A519-BDABC9E7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先鎖日期，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把南方留給自己</a:t>
            </a:r>
          </a:p>
        </p:txBody>
      </p:sp>
      <p:sp>
        <p:nvSpPr>
          <p:cNvPr id="6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CE5E9694-066C-4CC3-8411-072806F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8EC4B"/>
                </a:solidFill>
              </a:defRPr>
            </a:pPr>
            <a:r>
              <a:rPr sz="1650" b="1" i="0">
                <a:solidFill>
                  <a:srgbClr val="B8EC4B"/>
                </a:solidFill>
              </a:rPr>
              <a:t>高雄出發｜東港 × 滿州｜2 天 1 夜｜2 人 NT$10,000 內</a:t>
            </a:r>
          </a:p>
        </p:txBody>
      </p:sp>
      <p:sp>
        <p:nvSpPr>
          <p:cNvPr id="7" name="close-check-kicker">
            <a:extLst xmlns:a="http://schemas.openxmlformats.org/drawingml/2006/main">
              <a:ext uri="{FF2B5EF4-FFF2-40B4-BE49-F238E27FC236}">
                <a16:creationId xmlns:a16="http://schemas.microsoft.com/office/drawing/2014/main" id="{056634F7-7286-4FF0-A174-727AA24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EC4B"/>
                </a:solidFill>
              </a:defRPr>
            </a:pPr>
            <a:r>
              <a:rPr sz="1425" b="1" i="0">
                <a:solidFill>
                  <a:srgbClr val="B8EC4B"/>
                </a:solidFill>
              </a:rPr>
              <a:t>出發前確認</a:t>
            </a:r>
          </a:p>
        </p:txBody>
      </p:sp>
      <p:sp>
        <p:nvSpPr>
          <p:cNvPr id="8" name="close-checklist">
            <a:extLst xmlns:a="http://schemas.openxmlformats.org/drawingml/2006/main">
              <a:ext uri="{FF2B5EF4-FFF2-40B4-BE49-F238E27FC236}">
                <a16:creationId xmlns:a16="http://schemas.microsoft.com/office/drawing/2014/main" id="{42639B63-483E-4941-9643-EF45F85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旅遊日期  →  東港住宿  →  租車含保險  →  佳樂水票價／開放時間</a:t>
            </a:r>
          </a:p>
        </p:txBody>
      </p:sp>
      <p:sp>
        <p:nvSpPr>
          <p:cNvPr id="9" name="close-caveat">
            <a:extLst xmlns:a="http://schemas.openxmlformats.org/drawingml/2006/main">
              <a:ext uri="{FF2B5EF4-FFF2-40B4-BE49-F238E27FC236}">
                <a16:creationId xmlns:a16="http://schemas.microsoft.com/office/drawing/2014/main" id="{3586409E-2204-4F9A-AC71-DB3128F6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C8E3E4"/>
                </a:solidFill>
              </a:defRPr>
            </a:pPr>
            <a:r>
              <a:rPr sz="1125" b="0" i="1">
                <a:solidFill>
                  <a:srgbClr val="C8E3E4"/>
                </a:solidFill>
              </a:rPr>
              <a:t>可直接執行的行程骨架，不是未指定日期的保證售價。</a:t>
            </a:r>
          </a:p>
        </p:txBody>
      </p:sp>
      <p:sp>
        <p:nvSpPr>
          <p:cNvPr id="1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CF35AFF9-CDDB-4CFA-B6BC-20C0682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DC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21799ADC-AE83-4721-8531-ADF712AC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2F9F5"/>
                </a:solidFill>
              </a:defRPr>
            </a:pPr>
            <a:r>
              <a:rPr sz="975" b="1" i="0">
                <a:solidFill>
                  <a:srgbClr val="E2F9F5"/>
                </a:solidFill>
              </a:rPr>
              <a:t>高屏旅遊促銷簡報｜把文化、美食與海岸線一次帶走</a:t>
            </a:r>
          </a:p>
        </p:txBody>
      </p:sp>
      <p:sp>
        <p:nvSpPr>
          <p:cNvPr id="12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EEA5A384-2673-4E01-8341-63BC7CFA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ADCB4"/>
                </a:solidFill>
              </a:defRPr>
            </a:pPr>
            <a:r>
              <a:rPr sz="1200" b="1" i="0">
                <a:solidFill>
                  <a:srgbClr val="6ADCB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9895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2026-09-02T11:53:45.1400000Z</dcterms:created>
  <dcterms:modified xsi:type="dcterms:W3CDTF">2026-09-02T11:53:45.1400000Z</dcterms:modified>
</coreProperties>
</file>